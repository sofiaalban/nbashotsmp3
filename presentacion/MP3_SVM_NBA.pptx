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Public Sans" pitchFamily="34" charset="0"/>
      <p:regular r:id="rId27"/>
      <p:bold r:id="rId28"/>
    </p:embeddedFont>
    <p:embeddedFont>
      <p:font typeface="Oswald" pitchFamily="34" charset="0"/>
      <p:regular r:id="rId29"/>
      <p:bold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Rafael, Alfonso y Sofía, y este es nuestro mini-proyecto 3. La pregunta es simple: dado un tiro de la NBA, ¿podemos predecir si entra o no entra? Para responderla usamos Máquinas de Soporte Vectorial y comparamos una frontera lineal contra una no lineal con kernel RBF, con el dataset de tiros de la temporada 2014-15 que nos asignaron. Al final les mostramos el prototipo funcionando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 objetivo general está redactado en infinitivo y es medible. Queremos clasificar si un tiro va a entrar usando seis variables que se conocen antes de que el balón llegue al aro, y comparar dos modelos: una SVM lineal y una SVM con kernel RBF, ambas con hiperparámetros elegidos por GridSearchCV. Lo medimos con tres métricas de clasificación (accuracy, F1 y ROC-AUC), con el tiempo de cómputo y contra un baseline: el modelo trivial que siempre dice “falla”, que ya acierta el 54.2 % porque hay más fallos que encestes. Superar ese número es el mínimo para decir que el modelo aprendió algo.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Formalmente es un problema de clasificación binaria. Cada tiro i se representa como un vector x sub i en R a la seis: seis dimensiones, que son las variables de la tabla. Todas se conocen antes del resultado: la distancia al aro, la distancia del defensor más cercano, cuánto quedaba en el reloj de posesión, cuántos botes dio y cuánto tiempo tuvo el balón el jugador, y el periodo. La etiqueta y vale +1 si encestó y −1 si falló. Las clases están casi balanceadas: 45 contra 55 %. Esto es importante porque más adelante justifica la métrica que usamos para elegir hiperparámetros. En la parte visual del prototipo también usamos una versión en 2 dimensiones (distancia al aro y del defensor) para poder dibujar la frontera.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SVM busca un hiperplano, f(x) = w transpuesta x más b. El vector w es normal a la frontera, o sea, define hacia dónde mira, y b la traslada sin girarla. Clasificamos con el signo de f(x). De todos los hiperplanos que separan, la SVM elige el de margen máximo: la calle más ancha posible entre las dos clases. Con la normalización canónica, donde el punto más cercano cumple f = ±1, el ancho de la calle es 2 sobre la norma de w. Por eso maximizar el margen es lo mismo que minimizar un medio de norma de w al cuadrado: un problema convexo y cuadrático. Los puntos que tocan el borde, los encerrados en el dibujo, son los vectores de soporte. Si borráramos todos los demás puntos y reentrenáramos, la frontera sería exactamente la misma.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datos reales el margen duro es infactible: dos tiros prácticamente iguales, uno entra y el otro no. Por eso usamos margen blando. Cada punto recibe una variable de holgura xi: xi igual a cero si está bien clasificado y fuera de la calle, entre cero y uno si está dentro de la calle pero del lado correcto, y mayor que uno si está mal clasificado. C es el precio que pagamos por cada unidad de violación. Esto es equivalente a minimizar la pérdida bisagra, que castiga los errores y también los aciertos que ocurren por muy poco. Con C pequeño los errores son baratos: calle ancha, frontera suave, riesgo de subajuste. Con C grande los errores son carísimos: la frontera se retuerce para atrapar cada punto y se sobreajusta. No hay un C correcto a priori; se busca con validación cruzada.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pasar al dual con multiplicadores de Lagrange, los datos solo aparecen en productos punto entre pares de puntos. Solo los vectores de soporte tienen alfa mayor que cero, y en el margen blando alfa queda acotado entre 0 y C. Como solo hay productos punto, podemos reemplazarlos por un kernel: el truco del kernel. Calculamos la similitud en un espacio de mayor dimensión sin construirlo. Usamos el kernel RBF, exponencial de menos gamma por la distancia al cuadrado. Vale 1 si los dos tiros son idénticos y cae a cero cuando se alejan; corresponde a un espacio de dimensión infinita. Gamma controla qué tan rápido cae, como muestra la gráfica: con gamma pequeño cada vector de soporte influye lejos y la frontera es suave; con gamma grande la influencia es local, se forman “islas” y el modelo se sobreajusta.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arquitectura del proyecto, que sigue las tres reglas de oro de la clase. Partimos del CSV con 128 069 tiros, lo limpiamos y nos quedan 120 921. Como la SVC entrena en un tiempo que crece aproximadamente con n al cuadrado o al cubo, tomamos una muestra estratificada de 20 000 tiros con semilla 42 para que sea reproducible, y la partimos 75/25, también estratificado, en 15 000 de entrenamiento y 5 000 de prueba. Lo oscuro es el Pipeline: StandardScaler seguido de la SVC. Que el escalado esté dentro del Pipeline es clave: en la validación cruzada, media y desviación se calculan solo con los folds de entrenamiento, así no se filtra información del conjunto de validación. Luego GridSearchCV busca C y gamma con 5 folds, y al final evaluamos una sola vez en el test, que nunca se tocó durante la búsqueda.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resume la conexión entre la formulación y la aplicación. El vector x son las seis variables del tiro y la etiqueta es enceste o fallo. El hiperplano es la frontera lineal. La holgura y C nos dejan convivir con tiros casi idénticos que tienen resultados distintos, que en baloncesto son la norma. El kernel RBF permite una frontera curva, y veremos en los datos que hace falta porque el efecto del defensor depende de la distancia. Los vectores de soporte son los tiros ambiguos que quedan cerca de la frontera; en nuestro caso son la mayoría, lo que ya nos dice que las clases se solapan mucho. Y la validación cruzada es cómo elegimos los hiperparámetros de forma honesta.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datos son el NBA shot logs de Kaggle: cada fila es un tiro de la temporada 2014-15, con datos de tracking como la distancia del defensor más cercano. Usamos el CSV que nos asignaron, con 128 069 tiros y 21 columnas. La limpieza tiene tres pasos, que se ven en el embudo. Primero quitamos 5 567 tiros sin reloj de posesión: el reloj se apaga cuando quedan menos de 24 segundos en el periodo. Después quitamos 299 tiros con tiempo de posesión negativo, que es un error del tracking. Por último quitamos 1 282 tiros cuya distancia no es coherente con el tipo de tiro, por ejemplo un triple marcado a menos de 22 pies; si la distancia, que es nuestra variable más importante, está mal medida, preferimos no usarla. Quedan 120 921 tiros, el 94.4 %.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construir el vector solo usamos lo que se conoce antes del tiro. Quedan seis variables numéricas, así que d es igual a 6. Excluimos SHOT_RESULT y PTS porque revelan directamente la etiqueta: si un tiro sumó cero puntos, falló. W y FINAL_MARGIN tampoco van porque son el resultado final del partido, posterior al tiro. Si las metiéramos el modelo acertaría con información del futuro: eso es fuga de información, o data leakage. Los identificadores de jugador y partido tampoco entran, porque no son magnitudes que tenga sentido medir con distancias. Después estandarizamos con z-score: el kernel RBF trabaja con distancias euclidianas, así que sin escalar, una variable que va de 0 a 47 pies dominaría a una que va de 1 a 7. La media y la desviación se calculan solo con los datos de entrenamiento, dentro del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gráfica que motiva el kernel RBF. A la derecha, si miramos solo la distancia del defensor sobre todos los tiros, el porcentaje de acierto casi no cambia: entre 44 y 49 %. Parece que el defensor no importa. Pero a la izquierda, dentro de cada rango de distancia al aro, el efecto es enorme: debajo del aro, con el defensor encima, entra el 54 %; sin nadie a más de 10 pies, el 99 %. ¿Por qué desaparece en el agregado? Porque los defensores se pegan más en los tiros cercanos, que son los que más entran, y eso cancela el efecto. Es una paradoja de Simpson. Matemáticamente es una interacción entre variables: el efecto de una depende del valor de la otra. Un hiperplano no puede representar eso; una frontera curva como la del RBF,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criterios de la búsqueda, que la consigna pide explícitamente. Uno: grilla logarítmica, porque C y gamma actúan por órdenes de magnitud. Para el lineal probamos C de 0.01 a 10; para el RBF, C de 0.1 a 100 y gamma de 0.001 a 1, más el valor “scale”. Dos: C y gamma se buscan juntos porque están acoplados. Tres: validación cruzada de 5 folds estratificada. Cuatro: elegimos por ROC-AUC, porque las clases están casi balanceadas y el AUC mide qué tan bien la SVM ordena encestes por encima de fallos, sin depender del umbral; igual registramos accuracy y F1. Cinco: comparamos train contra validación para detectar sobreajuste. El mejor RBF fue C = 10, gamma = 0.01, el recuadro, con AUC 0.624. El mapa de la derecha muestra sobreajuste real: con gamma = 1 y C = 100, el AUC de train llega a 0.87 pero el de validación cae a 0.57. Son las “islas” de la teoría, medidas en nuestros datos. Para el lineal, C casi no cambia nada: 0.6236 a 0.6240.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resultados en los 5 000 tiros de prueba, que el modelo nunca vio. El baseline, que siempre dice “falla”, saca 54.2 % de accuracy, F1 cero porque nunca predice un enceste, y AUC 0.5, que es azar. La SVM lineal, con C = 10, saca 59.1 % de accuracy, F1 0.535 y AUC 0.628. La SVM RBF, con C = 10 y gamma 0.01, saca 61.8 % de accuracy, 7.6 puntos sobre el baseline, pero un F1 más bajo, 0.466, y un AUC prácticamente igual, 0.626. Las dos aprendieron algo real. Que el AUC sea igual y el accuracy no lo explicamos en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matriz de confusión toma enceste como la clase positiva. La SVM lineal detecta 1 173 encestes (los verdaderos positivos) a cambio de 928 falsas alarmas. La RBF es mucho más prudente: solo predice enceste 1 284 veces, acierta 832 y comete apenas 452 falsos positivos, pero deja pasar 1 456 encestes reales. Por eso su precisión es 0.65 y su recall 0.36, contra 0.56 y 0.51 del lineal. A la derecha, las curvas ROC: mueven el umbral de f(x) de punta a punta y grafican verdaderos contra falsos positivos. Están prácticamente superpuestas, con AUC 0.628 y 0.626. Eso significa que los dos modelos ordenan los tiros casi igual de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conclusión más importante. El AUC no depende del umbral: mide cómo f(x) ordena los tiros. Como es igual en los dos modelos, la diferencia no está en qué tan bien separan, sino en dónde cae el umbral f(x) = 0. El RBF es conservador: predice enceste solo cuando está muy seguro, así que gana en accuracy y en precisión, pero pierde recall. El lineal es más equilibrado y gana en F1. Cuál es mejor depende del objetivo: si queremos acertar más veces en total, el RBF; si queremos detectar encestes, el lineal. Además, el GridSearch eligió un gamma pequeño, 0.01: campanas anchas, un RBF que se comporta casi como lineal. Con las seis variables, la señal dominante es casi monótona (más lejos, menos acierto), y hay un ruido irreducible: el mismo jugador desde el mismo sitio mete alrededor del 45 %.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consigna pide reportar tiempos. Entrenar una SVC resuelve un problema cuadrático sobre la matriz de kernels de n por n, así que el tiempo crece entre n al cuadrado y n al cubo: en la gráfica, cada vez que duplicamos los datos el tiempo se multiplica por 4 o 5. Por eso no usamos los 120 000 tiros. Hay un dato contraintuitivo: la lineal tardó 39 segundos y la RBF 18. La razón es que SVC con kernel lineal usa el mismo solver dual, libsvm, y con clases tan solapadas y C = 10 tarda en converger; LinearSVC, que resuelve el primal, sería mucho más rápida. Además, cerca del 85 % de los puntos terminaron siendo vectores de soporte. Eso confirma que las clases se solapan muchísimo y también hace lenta la predicción, porque f(x) suma sobre todos los vectores de soporte. La búsqueda completa tomó unos 17 minutos en paralelo.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ver la frontera usamos solo dos variables: la distancia al aro y la del defensor. Línea gruesa: frontera f(x) = 0; punteadas: los bordes del margen, f = ±1; verde: predice enceste; morado: predice fallo. A la izquierda, el lineal solo puede trazar una recta y se queda en 56 % en test. En el centro, el RBF con C = 1 y gamma = 0.5 dibuja una región curva: cerca del aro y con el defensor lejos, predice enceste. Es exactamente la interacción de la paradoja de Simpson, y sube a 61 % en test. A la derecha, el sobreajuste: con C = 1000 y gamma = 100 aparecen islas alrededor de cada punto, el train sube a 91 % y el test cae a 55 %. Es la diapositiva de gamma grande de la clase, reproducida con nuestros datos. Esto lo vamos a mover en vivo en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Desarrollamos una aplicación web en Python con Streamlit y Plotly, que corre localmente y se puede abrir en el celular dentro de la misma red. Tiene seis pestañas: datos y limpieza, fundamento matemático, comparación lineal contra RBF, GridSearch, el laboratorio 2D y el simulador de tiro. El experimento pesado, el GridSearch, se corre una vez con train.py y deja los modelos y métricas guardados; así la demo no depende de esperar 17 minutos. El laboratorio 2D sí entrena en vivo, en uno a tres segundos, y en el simulador describimos un tiro con controles y vemos qué predice cada modelo y su valor de f(x). Todo el código, los datos y el README con instrucciones para reproducirlo están en el repositorio de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Declaramos de forma transparente que usamos IA generativa, específicamente Claude, de Anthropic, en tres etapas: como guía en el acercamiento al razonamiento matemático del proyecto, en la implementación del prototipo y la interfaz, y en detalles de la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las dos SVM superan al baseline; el RBF gana en accuracy y el lineal en F1, con un AUC prácticamente igual, y la búsqueda eligió un RBF casi lineal. En 2D, en cambio, el RBF sí aprovecha la interacción entre distancia y defensor, y vimos el sobreajuste con gamma grande. Ahora pasamos a la demo en vivo de la aplicación y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1076852"/>
            <a:ext cx="10566466" cy="46732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Oswald" pitchFamily="34" charset="0"/>
                <a:ea typeface="Oswald" pitchFamily="34" charset="-122"/>
                <a:cs typeface="Oswal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7" y="1848972"/>
            <a:ext cx="10566433" cy="4196228"/>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1076852"/>
            <a:ext cx="10566466" cy="46732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Oswald" pitchFamily="34" charset="0"/>
                <a:ea typeface="Oswald" pitchFamily="34" charset="-122"/>
                <a:cs typeface="Oswal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7" y="1848972"/>
            <a:ext cx="10566433" cy="4196228"/>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jpe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pic>
        <p:nvPicPr>
          <p:cNvPr id="2" name="Image 0" descr="Balón de baloncesto">    </p:cNvPr>
          <p:cNvPicPr>
            <a:picLocks noChangeAspect="1"/>
          </p:cNvPicPr>
          <p:nvPr/>
        </p:nvPicPr>
        <p:blipFill>
          <a:blip r:embed="rId1"/>
          <a:srcRect l="0" r="0" t="0" b="0"/>
          <a:stretch/>
        </p:blipFill>
        <p:spPr>
          <a:xfrm>
            <a:off x="7874000" y="1587500"/>
            <a:ext cx="3302000" cy="3302000"/>
          </a:xfrm>
          <a:prstGeom prst="rect">
            <a:avLst/>
          </a:prstGeom>
        </p:spPr>
      </p:pic>
      <p:sp>
        <p:nvSpPr>
          <p:cNvPr id="3" name="Text 0"/>
          <p:cNvSpPr/>
          <p:nvPr/>
        </p:nvSpPr>
        <p:spPr>
          <a:xfrm>
            <a:off x="812767" y="812767"/>
            <a:ext cx="680212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86B"/>
                </a:solidFill>
                <a:latin typeface="Public Sans" pitchFamily="34" charset="0"/>
                <a:ea typeface="Public Sans" pitchFamily="34" charset="-122"/>
                <a:cs typeface="Public Sans" pitchFamily="34" charset="-120"/>
              </a:rPr>
              <a:t>MINI-PROYECTO 3 · MÉTODOS Y MODELOS MATEMÁTICOS PARA IA</a:t>
            </a:r>
            <a:endParaRPr lang="en-US" sz="1200" dirty="0"/>
          </a:p>
        </p:txBody>
      </p:sp>
      <p:sp>
        <p:nvSpPr>
          <p:cNvPr id="4" name="Text 1"/>
          <p:cNvSpPr/>
          <p:nvPr>
            <p:ph type="title"/>
          </p:nvPr>
        </p:nvSpPr>
        <p:spPr>
          <a:xfrm>
            <a:off x="812767" y="1203854"/>
            <a:ext cx="6802120" cy="932177"/>
          </a:xfrm>
          <a:prstGeom prst="rect">
            <a:avLst/>
          </a:prstGeom>
          <a:noFill/>
          <a:ln/>
        </p:spPr>
        <p:txBody>
          <a:bodyPr wrap="square" lIns="0" tIns="0" rIns="0" bIns="0" rtlCol="0" anchor="t">
            <a:normAutofit/>
          </a:bodyPr>
          <a:lstStyle/>
          <a:p>
            <a:pPr algn="l" indent="0" marL="0">
              <a:lnSpc>
                <a:spcPts val="7140"/>
              </a:lnSpc>
              <a:buNone/>
            </a:pPr>
            <a:r>
              <a:rPr lang="en-US" sz="6800" b="1" i="0" dirty="0">
                <a:solidFill>
                  <a:srgbClr val="F7F5F0"/>
                </a:solidFill>
                <a:latin typeface="Oswald" pitchFamily="34" charset="0"/>
                <a:ea typeface="Oswald" pitchFamily="34" charset="-122"/>
                <a:cs typeface="Oswald" pitchFamily="34" charset="-120"/>
              </a:rPr>
              <a:t>¿Entra o no entra?</a:t>
            </a:r>
            <a:endParaRPr lang="en-US" sz="6800" dirty="0"/>
          </a:p>
        </p:txBody>
      </p:sp>
      <p:sp>
        <p:nvSpPr>
          <p:cNvPr id="5" name="Text 2"/>
          <p:cNvSpPr/>
          <p:nvPr/>
        </p:nvSpPr>
        <p:spPr>
          <a:xfrm>
            <a:off x="812767" y="2288398"/>
            <a:ext cx="6802120" cy="685783"/>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E3"/>
                </a:solidFill>
                <a:latin typeface="Public Sans" pitchFamily="34" charset="0"/>
                <a:ea typeface="Public Sans" pitchFamily="34" charset="-122"/>
                <a:cs typeface="Public Sans" pitchFamily="34" charset="-120"/>
              </a:rPr>
              <a:t>Clasificación binaria de encestes en la NBA con SVM lineal y kernel RBF</a:t>
            </a:r>
            <a:endParaRPr lang="en-US" sz="2000" dirty="0"/>
          </a:p>
        </p:txBody>
      </p:sp>
      <p:sp>
        <p:nvSpPr>
          <p:cNvPr id="6" name="Text 3"/>
          <p:cNvSpPr/>
          <p:nvPr/>
        </p:nvSpPr>
        <p:spPr>
          <a:xfrm>
            <a:off x="812767" y="5471252"/>
            <a:ext cx="6802120" cy="30986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5F0"/>
                </a:solidFill>
                <a:latin typeface="Public Sans" pitchFamily="34" charset="0"/>
                <a:ea typeface="Public Sans" pitchFamily="34" charset="-122"/>
                <a:cs typeface="Public Sans" pitchFamily="34" charset="-120"/>
              </a:rPr>
              <a:t>Rafael David Palau · Alfonso Vega · Sofía Albán</a:t>
            </a:r>
            <a:endParaRPr lang="en-US" sz="1600" dirty="0"/>
          </a:p>
        </p:txBody>
      </p:sp>
      <p:sp>
        <p:nvSpPr>
          <p:cNvPr id="7" name="Text 4"/>
          <p:cNvSpPr/>
          <p:nvPr/>
        </p:nvSpPr>
        <p:spPr>
          <a:xfrm>
            <a:off x="812767" y="5831913"/>
            <a:ext cx="68021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Public Sans" pitchFamily="34" charset="0"/>
                <a:ea typeface="Public Sans" pitchFamily="34" charset="-122"/>
                <a:cs typeface="Public Sans" pitchFamily="34" charset="-120"/>
              </a:rPr>
              <a:t>Pontificia Universidad Javeriana Cali · 22 de octubre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7"/>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OBJETIVO GENERAL</a:t>
            </a:r>
            <a:endParaRPr lang="en-US" sz="1200" dirty="0"/>
          </a:p>
        </p:txBody>
      </p:sp>
      <p:sp>
        <p:nvSpPr>
          <p:cNvPr id="3" name="Text 1"/>
          <p:cNvSpPr/>
          <p:nvPr>
            <p:ph type="title"/>
          </p:nvPr>
        </p:nvSpPr>
        <p:spPr>
          <a:xfrm>
            <a:off x="812767" y="1076854"/>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Un objetivo, medible</a:t>
            </a:r>
            <a:endParaRPr lang="en-US" sz="3200" dirty="0"/>
          </a:p>
        </p:txBody>
      </p:sp>
      <p:sp>
        <p:nvSpPr>
          <p:cNvPr id="4" name="Shape 2"/>
          <p:cNvSpPr/>
          <p:nvPr/>
        </p:nvSpPr>
        <p:spPr>
          <a:xfrm>
            <a:off x="838167" y="2654184"/>
            <a:ext cx="0" cy="1666048"/>
          </a:xfrm>
          <a:prstGeom prst="line">
            <a:avLst/>
          </a:prstGeom>
          <a:noFill/>
          <a:ln w="50800">
            <a:solidFill>
              <a:srgbClr val="E0692B"/>
            </a:solidFill>
            <a:prstDash val="solid"/>
          </a:ln>
        </p:spPr>
      </p:sp>
      <p:sp>
        <p:nvSpPr>
          <p:cNvPr id="5" name="Text 3"/>
          <p:cNvSpPr/>
          <p:nvPr/>
        </p:nvSpPr>
        <p:spPr>
          <a:xfrm>
            <a:off x="1167838" y="2704984"/>
            <a:ext cx="10517737" cy="158984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Public Sans" pitchFamily="34" charset="0"/>
                <a:ea typeface="Public Sans" pitchFamily="34" charset="-122"/>
                <a:cs typeface="Public Sans" pitchFamily="34" charset="-120"/>
              </a:rPr>
              <a:t>Clasificar</a:t>
            </a:r>
            <a:r>
              <a:rPr lang="en-US" sz="2200" dirty="0">
                <a:solidFill>
                  <a:srgbClr val="14213D"/>
                </a:solidFill>
                <a:latin typeface="Public Sans" pitchFamily="34" charset="0"/>
                <a:ea typeface="Public Sans" pitchFamily="34" charset="-122"/>
                <a:cs typeface="Public Sans" pitchFamily="34" charset="-120"/>
              </a:rPr>
              <a:t> si un tiro de la NBA 2014-15 será encestado a partir de 6 variables del lanzamiento, comparando una </a:t>
            </a:r>
            <a:r>
              <a:rPr lang="en-US" sz="2200" b="1" dirty="0">
                <a:solidFill>
                  <a:srgbClr val="14213D"/>
                </a:solidFill>
                <a:latin typeface="Public Sans" pitchFamily="34" charset="0"/>
                <a:ea typeface="Public Sans" pitchFamily="34" charset="-122"/>
                <a:cs typeface="Public Sans" pitchFamily="34" charset="-120"/>
              </a:rPr>
              <a:t>SVM lineal</a:t>
            </a:r>
            <a:r>
              <a:rPr lang="en-US" sz="2200" dirty="0">
                <a:solidFill>
                  <a:srgbClr val="14213D"/>
                </a:solidFill>
                <a:latin typeface="Public Sans" pitchFamily="34" charset="0"/>
                <a:ea typeface="Public Sans" pitchFamily="34" charset="-122"/>
                <a:cs typeface="Public Sans" pitchFamily="34" charset="-120"/>
              </a:rPr>
              <a:t> y una </a:t>
            </a:r>
            <a:r>
              <a:rPr lang="en-US" sz="2200" b="1" dirty="0">
                <a:solidFill>
                  <a:srgbClr val="14213D"/>
                </a:solidFill>
                <a:latin typeface="Public Sans" pitchFamily="34" charset="0"/>
                <a:ea typeface="Public Sans" pitchFamily="34" charset="-122"/>
                <a:cs typeface="Public Sans" pitchFamily="34" charset="-120"/>
              </a:rPr>
              <a:t>SVM con kernel RBF</a:t>
            </a:r>
            <a:r>
              <a:rPr lang="en-US" sz="2200" dirty="0">
                <a:solidFill>
                  <a:srgbClr val="14213D"/>
                </a:solidFill>
                <a:latin typeface="Public Sans" pitchFamily="34" charset="0"/>
                <a:ea typeface="Public Sans" pitchFamily="34" charset="-122"/>
                <a:cs typeface="Public Sans" pitchFamily="34" charset="-120"/>
              </a:rPr>
              <a:t> optimizadas con GridSearchCV, y cuantificar su desempeño frente a un </a:t>
            </a:r>
            <a:r>
              <a:rPr lang="en-US" sz="2200" b="1" dirty="0">
                <a:solidFill>
                  <a:srgbClr val="14213D"/>
                </a:solidFill>
                <a:latin typeface="Public Sans" pitchFamily="34" charset="0"/>
                <a:ea typeface="Public Sans" pitchFamily="34" charset="-122"/>
                <a:cs typeface="Public Sans" pitchFamily="34" charset="-120"/>
              </a:rPr>
              <a:t>baseline</a:t>
            </a:r>
            <a:r>
              <a:rPr lang="en-US" sz="2200" dirty="0">
                <a:solidFill>
                  <a:srgbClr val="14213D"/>
                </a:solidFill>
                <a:latin typeface="Public Sans" pitchFamily="34" charset="0"/>
                <a:ea typeface="Public Sans" pitchFamily="34" charset="-122"/>
                <a:cs typeface="Public Sans" pitchFamily="34" charset="-120"/>
              </a:rPr>
              <a:t> de clase mayoritaria.</a:t>
            </a:r>
            <a:endParaRPr lang="en-US" sz="2200" dirty="0"/>
          </a:p>
        </p:txBody>
      </p:sp>
      <p:sp>
        <p:nvSpPr>
          <p:cNvPr id="6" name="Text 4"/>
          <p:cNvSpPr/>
          <p:nvPr/>
        </p:nvSpPr>
        <p:spPr>
          <a:xfrm>
            <a:off x="815942" y="5433375"/>
            <a:ext cx="3414216" cy="608682"/>
          </a:xfrm>
          <a:prstGeom prst="roundRect">
            <a:avLst>
              <a:gd name="adj" fmla="val 16170"/>
            </a:avLst>
          </a:prstGeom>
          <a:solidFill>
            <a:srgbClr val="FFFDF9"/>
          </a:solidFill>
          <a:ln w="6350">
            <a:solidFill>
              <a:srgbClr val="E4E1DA"/>
            </a:solidFill>
            <a:prstDash val="solid"/>
          </a:ln>
        </p:spPr>
        <p:txBody>
          <a:bodyPr wrap="square" lIns="176489" tIns="151089" rIns="86381" bIns="125689" rtlCol="0" anchor="t">
            <a:normAutofit/>
          </a:bodyPr>
          <a:lstStyle/>
          <a:p>
            <a:pPr algn="l"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Accuracy · F1 · ROC-AUC</a:t>
            </a:r>
            <a:endParaRPr lang="en-US" sz="1400" dirty="0"/>
          </a:p>
        </p:txBody>
      </p:sp>
      <p:sp>
        <p:nvSpPr>
          <p:cNvPr id="7" name="Text 5"/>
          <p:cNvSpPr/>
          <p:nvPr/>
        </p:nvSpPr>
        <p:spPr>
          <a:xfrm>
            <a:off x="4388892" y="5433375"/>
            <a:ext cx="3414216" cy="608682"/>
          </a:xfrm>
          <a:prstGeom prst="roundRect">
            <a:avLst>
              <a:gd name="adj" fmla="val 16170"/>
            </a:avLst>
          </a:prstGeom>
          <a:solidFill>
            <a:srgbClr val="FFFDF9"/>
          </a:solidFill>
          <a:ln w="6350">
            <a:solidFill>
              <a:srgbClr val="E4E1DA"/>
            </a:solidFill>
            <a:prstDash val="solid"/>
          </a:ln>
        </p:spPr>
        <p:txBody>
          <a:bodyPr wrap="square" lIns="176489" tIns="151089" rIns="86381" bIns="125689" rtlCol="0" anchor="t">
            <a:normAutofit/>
          </a:bodyPr>
          <a:lstStyle/>
          <a:p>
            <a:pPr algn="l"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Tiempo de cómputo</a:t>
            </a:r>
            <a:endParaRPr lang="en-US" sz="1400" dirty="0"/>
          </a:p>
        </p:txBody>
      </p:sp>
      <p:sp>
        <p:nvSpPr>
          <p:cNvPr id="8" name="Text 6"/>
          <p:cNvSpPr/>
          <p:nvPr/>
        </p:nvSpPr>
        <p:spPr>
          <a:xfrm>
            <a:off x="7961841" y="5433375"/>
            <a:ext cx="3414216" cy="608682"/>
          </a:xfrm>
          <a:prstGeom prst="roundRect">
            <a:avLst>
              <a:gd name="adj" fmla="val 16170"/>
            </a:avLst>
          </a:prstGeom>
          <a:solidFill>
            <a:srgbClr val="FFFDF9"/>
          </a:solidFill>
          <a:ln w="6350">
            <a:solidFill>
              <a:srgbClr val="E4E1DA"/>
            </a:solidFill>
            <a:prstDash val="solid"/>
          </a:ln>
        </p:spPr>
        <p:txBody>
          <a:bodyPr wrap="square" lIns="176489" tIns="151089" rIns="86381" bIns="125689" rtlCol="0" anchor="t">
            <a:normAutofit/>
          </a:bodyPr>
          <a:lstStyle/>
          <a:p>
            <a:pPr algn="l"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vs. baseline: 54.2 %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METODOLOGÍA · PLANTEAMIENTO</a:t>
            </a:r>
            <a:endParaRPr lang="en-US" sz="1200" dirty="0"/>
          </a:p>
        </p:txBody>
      </p:sp>
      <p:sp>
        <p:nvSpPr>
          <p:cNvPr id="3" name="Text 1"/>
          <p:cNvSpPr/>
          <p:nvPr>
            <p:ph type="title"/>
          </p:nvPr>
        </p:nvSpPr>
        <p:spPr>
          <a:xfrm>
            <a:off x="812767" y="1076854"/>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Cada tiro es un vector x ∈ ℝ⁶</a:t>
            </a:r>
            <a:endParaRPr lang="en-US" sz="3200" dirty="0"/>
          </a:p>
        </p:txBody>
      </p:sp>
      <p:sp>
        <p:nvSpPr>
          <p:cNvPr id="4" name="Shape 2"/>
          <p:cNvSpPr/>
          <p:nvPr/>
        </p:nvSpPr>
        <p:spPr>
          <a:xfrm>
            <a:off x="815942" y="1852116"/>
            <a:ext cx="3414216" cy="890546"/>
          </a:xfrm>
          <a:prstGeom prst="roundRect">
            <a:avLst>
              <a:gd name="adj" fmla="val 11052"/>
            </a:avLst>
          </a:prstGeom>
          <a:solidFill>
            <a:srgbClr val="FFFDF9"/>
          </a:solidFill>
          <a:ln w="6350">
            <a:solidFill>
              <a:srgbClr val="E4E1DA"/>
            </a:solidFill>
            <a:prstDash val="solid"/>
          </a:ln>
        </p:spPr>
      </p:sp>
      <p:sp>
        <p:nvSpPr>
          <p:cNvPr id="5" name="Text 3"/>
          <p:cNvSpPr/>
          <p:nvPr/>
        </p:nvSpPr>
        <p:spPr>
          <a:xfrm>
            <a:off x="1021250" y="2032000"/>
            <a:ext cx="30937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D0"/>
                </a:solidFill>
                <a:latin typeface="Public Sans" pitchFamily="34" charset="0"/>
                <a:ea typeface="Public Sans" pitchFamily="34" charset="-122"/>
                <a:cs typeface="Public Sans" pitchFamily="34" charset="-120"/>
              </a:rPr>
              <a:t>x₁ · SHOT_DIST</a:t>
            </a:r>
            <a:endParaRPr lang="en-US" sz="1200" dirty="0"/>
          </a:p>
        </p:txBody>
      </p:sp>
      <p:sp>
        <p:nvSpPr>
          <p:cNvPr id="6" name="Text 4"/>
          <p:cNvSpPr/>
          <p:nvPr/>
        </p:nvSpPr>
        <p:spPr>
          <a:xfrm>
            <a:off x="1021250" y="2296086"/>
            <a:ext cx="3093708" cy="29209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Public Sans" pitchFamily="34" charset="0"/>
                <a:ea typeface="Public Sans" pitchFamily="34" charset="-122"/>
                <a:cs typeface="Public Sans" pitchFamily="34" charset="-120"/>
              </a:rPr>
              <a:t>Distancia al aro</a:t>
            </a:r>
            <a:endParaRPr lang="en-US" sz="1500" dirty="0"/>
          </a:p>
        </p:txBody>
      </p:sp>
      <p:sp>
        <p:nvSpPr>
          <p:cNvPr id="7" name="Shape 5"/>
          <p:cNvSpPr/>
          <p:nvPr/>
        </p:nvSpPr>
        <p:spPr>
          <a:xfrm>
            <a:off x="4388892" y="1852116"/>
            <a:ext cx="3414216" cy="890546"/>
          </a:xfrm>
          <a:prstGeom prst="roundRect">
            <a:avLst>
              <a:gd name="adj" fmla="val 11052"/>
            </a:avLst>
          </a:prstGeom>
          <a:solidFill>
            <a:srgbClr val="FFFDF9"/>
          </a:solidFill>
          <a:ln w="6350">
            <a:solidFill>
              <a:srgbClr val="E4E1DA"/>
            </a:solidFill>
            <a:prstDash val="solid"/>
          </a:ln>
        </p:spPr>
      </p:sp>
      <p:sp>
        <p:nvSpPr>
          <p:cNvPr id="8" name="Text 6"/>
          <p:cNvSpPr/>
          <p:nvPr/>
        </p:nvSpPr>
        <p:spPr>
          <a:xfrm>
            <a:off x="4594200" y="2032000"/>
            <a:ext cx="30937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D0"/>
                </a:solidFill>
                <a:latin typeface="Public Sans" pitchFamily="34" charset="0"/>
                <a:ea typeface="Public Sans" pitchFamily="34" charset="-122"/>
                <a:cs typeface="Public Sans" pitchFamily="34" charset="-120"/>
              </a:rPr>
              <a:t>x₂ · CLOSE_DEF_DIST</a:t>
            </a:r>
            <a:endParaRPr lang="en-US" sz="1200" dirty="0"/>
          </a:p>
        </p:txBody>
      </p:sp>
      <p:sp>
        <p:nvSpPr>
          <p:cNvPr id="9" name="Text 7"/>
          <p:cNvSpPr/>
          <p:nvPr/>
        </p:nvSpPr>
        <p:spPr>
          <a:xfrm>
            <a:off x="4594200" y="2296086"/>
            <a:ext cx="3093708" cy="29209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Public Sans" pitchFamily="34" charset="0"/>
                <a:ea typeface="Public Sans" pitchFamily="34" charset="-122"/>
                <a:cs typeface="Public Sans" pitchFamily="34" charset="-120"/>
              </a:rPr>
              <a:t>Distancia del defensor</a:t>
            </a:r>
            <a:endParaRPr lang="en-US" sz="1500" dirty="0"/>
          </a:p>
        </p:txBody>
      </p:sp>
      <p:sp>
        <p:nvSpPr>
          <p:cNvPr id="10" name="Shape 8"/>
          <p:cNvSpPr/>
          <p:nvPr/>
        </p:nvSpPr>
        <p:spPr>
          <a:xfrm>
            <a:off x="7961841" y="1852116"/>
            <a:ext cx="3414216" cy="890546"/>
          </a:xfrm>
          <a:prstGeom prst="roundRect">
            <a:avLst>
              <a:gd name="adj" fmla="val 11052"/>
            </a:avLst>
          </a:prstGeom>
          <a:solidFill>
            <a:srgbClr val="FFFDF9"/>
          </a:solidFill>
          <a:ln w="6350">
            <a:solidFill>
              <a:srgbClr val="E4E1DA"/>
            </a:solidFill>
            <a:prstDash val="solid"/>
          </a:ln>
        </p:spPr>
      </p:sp>
      <p:sp>
        <p:nvSpPr>
          <p:cNvPr id="11" name="Text 9"/>
          <p:cNvSpPr/>
          <p:nvPr/>
        </p:nvSpPr>
        <p:spPr>
          <a:xfrm>
            <a:off x="8167150" y="2032000"/>
            <a:ext cx="30937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D0"/>
                </a:solidFill>
                <a:latin typeface="Public Sans" pitchFamily="34" charset="0"/>
                <a:ea typeface="Public Sans" pitchFamily="34" charset="-122"/>
                <a:cs typeface="Public Sans" pitchFamily="34" charset="-120"/>
              </a:rPr>
              <a:t>x₃ · SHOT_CLOCK</a:t>
            </a:r>
            <a:endParaRPr lang="en-US" sz="1200" dirty="0"/>
          </a:p>
        </p:txBody>
      </p:sp>
      <p:sp>
        <p:nvSpPr>
          <p:cNvPr id="12" name="Text 10"/>
          <p:cNvSpPr/>
          <p:nvPr/>
        </p:nvSpPr>
        <p:spPr>
          <a:xfrm>
            <a:off x="8167150" y="2296086"/>
            <a:ext cx="3093708" cy="29209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Public Sans" pitchFamily="34" charset="0"/>
                <a:ea typeface="Public Sans" pitchFamily="34" charset="-122"/>
                <a:cs typeface="Public Sans" pitchFamily="34" charset="-120"/>
              </a:rPr>
              <a:t>Reloj de posesión</a:t>
            </a:r>
            <a:endParaRPr lang="en-US" sz="1500" dirty="0"/>
          </a:p>
        </p:txBody>
      </p:sp>
      <p:sp>
        <p:nvSpPr>
          <p:cNvPr id="13" name="Shape 11"/>
          <p:cNvSpPr/>
          <p:nvPr/>
        </p:nvSpPr>
        <p:spPr>
          <a:xfrm>
            <a:off x="815942" y="2901395"/>
            <a:ext cx="3414216" cy="890546"/>
          </a:xfrm>
          <a:prstGeom prst="roundRect">
            <a:avLst>
              <a:gd name="adj" fmla="val 11052"/>
            </a:avLst>
          </a:prstGeom>
          <a:solidFill>
            <a:srgbClr val="FFFDF9"/>
          </a:solidFill>
          <a:ln w="6350">
            <a:solidFill>
              <a:srgbClr val="E4E1DA"/>
            </a:solidFill>
            <a:prstDash val="solid"/>
          </a:ln>
        </p:spPr>
      </p:sp>
      <p:sp>
        <p:nvSpPr>
          <p:cNvPr id="14" name="Text 12"/>
          <p:cNvSpPr/>
          <p:nvPr/>
        </p:nvSpPr>
        <p:spPr>
          <a:xfrm>
            <a:off x="1021250" y="3081279"/>
            <a:ext cx="30937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D0"/>
                </a:solidFill>
                <a:latin typeface="Public Sans" pitchFamily="34" charset="0"/>
                <a:ea typeface="Public Sans" pitchFamily="34" charset="-122"/>
                <a:cs typeface="Public Sans" pitchFamily="34" charset="-120"/>
              </a:rPr>
              <a:t>x₄ · DRIBBLES</a:t>
            </a:r>
            <a:endParaRPr lang="en-US" sz="1200" dirty="0"/>
          </a:p>
        </p:txBody>
      </p:sp>
      <p:sp>
        <p:nvSpPr>
          <p:cNvPr id="15" name="Text 13"/>
          <p:cNvSpPr/>
          <p:nvPr/>
        </p:nvSpPr>
        <p:spPr>
          <a:xfrm>
            <a:off x="1021250" y="3345366"/>
            <a:ext cx="3093708" cy="29209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Public Sans" pitchFamily="34" charset="0"/>
                <a:ea typeface="Public Sans" pitchFamily="34" charset="-122"/>
                <a:cs typeface="Public Sans" pitchFamily="34" charset="-120"/>
              </a:rPr>
              <a:t>Botes antes del tiro</a:t>
            </a:r>
            <a:endParaRPr lang="en-US" sz="1500" dirty="0"/>
          </a:p>
        </p:txBody>
      </p:sp>
      <p:sp>
        <p:nvSpPr>
          <p:cNvPr id="16" name="Shape 14"/>
          <p:cNvSpPr/>
          <p:nvPr/>
        </p:nvSpPr>
        <p:spPr>
          <a:xfrm>
            <a:off x="4388892" y="2901395"/>
            <a:ext cx="3414216" cy="890546"/>
          </a:xfrm>
          <a:prstGeom prst="roundRect">
            <a:avLst>
              <a:gd name="adj" fmla="val 11052"/>
            </a:avLst>
          </a:prstGeom>
          <a:solidFill>
            <a:srgbClr val="FFFDF9"/>
          </a:solidFill>
          <a:ln w="6350">
            <a:solidFill>
              <a:srgbClr val="E4E1DA"/>
            </a:solidFill>
            <a:prstDash val="solid"/>
          </a:ln>
        </p:spPr>
      </p:sp>
      <p:sp>
        <p:nvSpPr>
          <p:cNvPr id="17" name="Text 15"/>
          <p:cNvSpPr/>
          <p:nvPr/>
        </p:nvSpPr>
        <p:spPr>
          <a:xfrm>
            <a:off x="4594200" y="3081279"/>
            <a:ext cx="30937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D0"/>
                </a:solidFill>
                <a:latin typeface="Public Sans" pitchFamily="34" charset="0"/>
                <a:ea typeface="Public Sans" pitchFamily="34" charset="-122"/>
                <a:cs typeface="Public Sans" pitchFamily="34" charset="-120"/>
              </a:rPr>
              <a:t>x₅ · TOUCH_TIME</a:t>
            </a:r>
            <a:endParaRPr lang="en-US" sz="1200" dirty="0"/>
          </a:p>
        </p:txBody>
      </p:sp>
      <p:sp>
        <p:nvSpPr>
          <p:cNvPr id="18" name="Text 16"/>
          <p:cNvSpPr/>
          <p:nvPr/>
        </p:nvSpPr>
        <p:spPr>
          <a:xfrm>
            <a:off x="4594200" y="3345366"/>
            <a:ext cx="3093708" cy="29209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Public Sans" pitchFamily="34" charset="0"/>
                <a:ea typeface="Public Sans" pitchFamily="34" charset="-122"/>
                <a:cs typeface="Public Sans" pitchFamily="34" charset="-120"/>
              </a:rPr>
              <a:t>Tiempo con el balón</a:t>
            </a:r>
            <a:endParaRPr lang="en-US" sz="1500" dirty="0"/>
          </a:p>
        </p:txBody>
      </p:sp>
      <p:sp>
        <p:nvSpPr>
          <p:cNvPr id="19" name="Shape 17"/>
          <p:cNvSpPr/>
          <p:nvPr/>
        </p:nvSpPr>
        <p:spPr>
          <a:xfrm>
            <a:off x="7961841" y="2901395"/>
            <a:ext cx="3414216" cy="890546"/>
          </a:xfrm>
          <a:prstGeom prst="roundRect">
            <a:avLst>
              <a:gd name="adj" fmla="val 11052"/>
            </a:avLst>
          </a:prstGeom>
          <a:solidFill>
            <a:srgbClr val="FFFDF9"/>
          </a:solidFill>
          <a:ln w="6350">
            <a:solidFill>
              <a:srgbClr val="E4E1DA"/>
            </a:solidFill>
            <a:prstDash val="solid"/>
          </a:ln>
        </p:spPr>
      </p:sp>
      <p:sp>
        <p:nvSpPr>
          <p:cNvPr id="20" name="Text 18"/>
          <p:cNvSpPr/>
          <p:nvPr/>
        </p:nvSpPr>
        <p:spPr>
          <a:xfrm>
            <a:off x="8167150" y="3081279"/>
            <a:ext cx="30937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D0"/>
                </a:solidFill>
                <a:latin typeface="Public Sans" pitchFamily="34" charset="0"/>
                <a:ea typeface="Public Sans" pitchFamily="34" charset="-122"/>
                <a:cs typeface="Public Sans" pitchFamily="34" charset="-120"/>
              </a:rPr>
              <a:t>x₆ · PERIOD</a:t>
            </a:r>
            <a:endParaRPr lang="en-US" sz="1200" dirty="0"/>
          </a:p>
        </p:txBody>
      </p:sp>
      <p:sp>
        <p:nvSpPr>
          <p:cNvPr id="21" name="Text 19"/>
          <p:cNvSpPr/>
          <p:nvPr/>
        </p:nvSpPr>
        <p:spPr>
          <a:xfrm>
            <a:off x="8167150" y="3345366"/>
            <a:ext cx="3093708" cy="29209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Public Sans" pitchFamily="34" charset="0"/>
                <a:ea typeface="Public Sans" pitchFamily="34" charset="-122"/>
                <a:cs typeface="Public Sans" pitchFamily="34" charset="-120"/>
              </a:rPr>
              <a:t>Periodo del partido</a:t>
            </a:r>
            <a:endParaRPr lang="en-US" sz="1500" dirty="0"/>
          </a:p>
        </p:txBody>
      </p:sp>
      <p:sp>
        <p:nvSpPr>
          <p:cNvPr id="22" name="Text 20"/>
          <p:cNvSpPr/>
          <p:nvPr/>
        </p:nvSpPr>
        <p:spPr>
          <a:xfrm>
            <a:off x="812767" y="4099883"/>
            <a:ext cx="5207041" cy="589235"/>
          </a:xfrm>
          <a:prstGeom prst="roundRect">
            <a:avLst>
              <a:gd name="adj" fmla="val 17243"/>
            </a:avLst>
          </a:prstGeom>
          <a:solidFill>
            <a:srgbClr val="1F9E89"/>
          </a:solidFill>
          <a:ln/>
        </p:spPr>
        <p:txBody>
          <a:bodyPr wrap="square" lIns="173442" tIns="122642" rIns="29423" bIns="97242" rtlCol="0" anchor="t">
            <a:normAutofit/>
          </a:bodyPr>
          <a:lstStyle/>
          <a:p>
            <a:pPr algn="l" indent="0" marL="0">
              <a:lnSpc>
                <a:spcPts val="2240"/>
              </a:lnSpc>
              <a:buNone/>
            </a:pPr>
            <a:r>
              <a:rPr lang="en-US" sz="1600" b="1" dirty="0">
                <a:solidFill>
                  <a:srgbClr val="FFFDF9"/>
                </a:solidFill>
                <a:latin typeface="Public Sans" pitchFamily="34" charset="0"/>
                <a:ea typeface="Public Sans" pitchFamily="34" charset="-122"/>
                <a:cs typeface="Public Sans" pitchFamily="34" charset="-120"/>
              </a:rPr>
              <a:t>y = +1 · encestado (45 %)</a:t>
            </a:r>
            <a:endParaRPr lang="en-US" sz="1600" dirty="0"/>
          </a:p>
        </p:txBody>
      </p:sp>
      <p:sp>
        <p:nvSpPr>
          <p:cNvPr id="23" name="Text 21"/>
          <p:cNvSpPr/>
          <p:nvPr/>
        </p:nvSpPr>
        <p:spPr>
          <a:xfrm>
            <a:off x="6172191" y="4099883"/>
            <a:ext cx="5207041" cy="589235"/>
          </a:xfrm>
          <a:prstGeom prst="roundRect">
            <a:avLst>
              <a:gd name="adj" fmla="val 17243"/>
            </a:avLst>
          </a:prstGeom>
          <a:solidFill>
            <a:srgbClr val="8E5BC8"/>
          </a:solidFill>
          <a:ln/>
        </p:spPr>
        <p:txBody>
          <a:bodyPr wrap="square" lIns="173442" tIns="122642" rIns="29423" bIns="97242" rtlCol="0" anchor="t">
            <a:normAutofit/>
          </a:bodyPr>
          <a:lstStyle/>
          <a:p>
            <a:pPr algn="l" indent="0" marL="0">
              <a:lnSpc>
                <a:spcPts val="2240"/>
              </a:lnSpc>
              <a:buNone/>
            </a:pPr>
            <a:r>
              <a:rPr lang="en-US" sz="1600" b="1" dirty="0">
                <a:solidFill>
                  <a:srgbClr val="FFFDF9"/>
                </a:solidFill>
                <a:latin typeface="Public Sans" pitchFamily="34" charset="0"/>
                <a:ea typeface="Public Sans" pitchFamily="34" charset="-122"/>
                <a:cs typeface="Public Sans" pitchFamily="34" charset="-120"/>
              </a:rPr>
              <a:t>y = −1 · fallado (55 %)</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FUNDAMENTO · SVM</a:t>
            </a:r>
            <a:endParaRPr lang="en-US" sz="1200" dirty="0"/>
          </a:p>
        </p:txBody>
      </p:sp>
      <p:sp>
        <p:nvSpPr>
          <p:cNvPr id="3" name="Text 1"/>
          <p:cNvSpPr/>
          <p:nvPr>
            <p:ph type="title"/>
          </p:nvPr>
        </p:nvSpPr>
        <p:spPr>
          <a:xfrm>
            <a:off x="812767" y="1076854"/>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Hiperplano y margen: la calle más ancha</a:t>
            </a:r>
            <a:endParaRPr lang="en-US" sz="3200" dirty="0"/>
          </a:p>
        </p:txBody>
      </p:sp>
      <p:sp>
        <p:nvSpPr>
          <p:cNvPr id="4" name="Shape 2"/>
          <p:cNvSpPr/>
          <p:nvPr/>
        </p:nvSpPr>
        <p:spPr>
          <a:xfrm>
            <a:off x="812767" y="1798174"/>
            <a:ext cx="4191000" cy="3644883"/>
          </a:xfrm>
          <a:prstGeom prst="roundRect">
            <a:avLst>
              <a:gd name="adj" fmla="val 2787"/>
            </a:avLst>
          </a:prstGeom>
          <a:solidFill>
            <a:srgbClr val="FFFDF9"/>
          </a:solidFill>
          <a:ln/>
        </p:spPr>
      </p:sp>
      <p:pic>
        <p:nvPicPr>
          <p:cNvPr id="5" name="Image 0" descr="Dos clases separadas por un hiperplano con su margen y los vectores de soporte resaltados">    </p:cNvPr>
          <p:cNvPicPr>
            <a:picLocks noChangeAspect="1"/>
          </p:cNvPicPr>
          <p:nvPr/>
        </p:nvPicPr>
        <p:blipFill>
          <a:blip r:embed="rId1"/>
          <a:srcRect l="-2" r="-2" t="0" b="0"/>
          <a:stretch/>
        </p:blipFill>
        <p:spPr>
          <a:xfrm>
            <a:off x="819117" y="1804524"/>
            <a:ext cx="4178300" cy="3632183"/>
          </a:xfrm>
          <a:prstGeom prst="roundRect">
            <a:avLst>
              <a:gd name="adj" fmla="val 2622"/>
            </a:avLst>
          </a:prstGeom>
        </p:spPr>
      </p:pic>
      <p:sp>
        <p:nvSpPr>
          <p:cNvPr id="6" name="Shape 3"/>
          <p:cNvSpPr/>
          <p:nvPr/>
        </p:nvSpPr>
        <p:spPr>
          <a:xfrm>
            <a:off x="815942" y="1801349"/>
            <a:ext cx="4184650" cy="3638533"/>
          </a:xfrm>
          <a:prstGeom prst="roundRect">
            <a:avLst>
              <a:gd name="adj" fmla="val 2705"/>
            </a:avLst>
          </a:prstGeom>
          <a:noFill/>
          <a:ln w="6350">
            <a:solidFill>
              <a:srgbClr val="E4E1DA"/>
            </a:solidFill>
            <a:prstDash val="solid"/>
          </a:ln>
        </p:spPr>
      </p:sp>
      <p:sp>
        <p:nvSpPr>
          <p:cNvPr id="7" name="Text 4"/>
          <p:cNvSpPr/>
          <p:nvPr/>
        </p:nvSpPr>
        <p:spPr>
          <a:xfrm>
            <a:off x="5410150" y="2492871"/>
            <a:ext cx="6148155" cy="452123"/>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14213D"/>
                </a:solidFill>
                <a:latin typeface="Oswald" pitchFamily="34" charset="0"/>
                <a:ea typeface="Oswald" pitchFamily="34" charset="-122"/>
                <a:cs typeface="Oswald" pitchFamily="34" charset="-120"/>
              </a:rPr>
              <a:t>f(x) = wᵀx + b</a:t>
            </a:r>
            <a:endParaRPr lang="en-US" sz="2800" dirty="0"/>
          </a:p>
        </p:txBody>
      </p:sp>
      <p:sp>
        <p:nvSpPr>
          <p:cNvPr id="8" name="Text 5"/>
          <p:cNvSpPr/>
          <p:nvPr/>
        </p:nvSpPr>
        <p:spPr>
          <a:xfrm>
            <a:off x="5410150" y="3122786"/>
            <a:ext cx="6148155" cy="30986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Public Sans" pitchFamily="34" charset="0"/>
                <a:ea typeface="Public Sans" pitchFamily="34" charset="-122"/>
                <a:cs typeface="Public Sans" pitchFamily="34" charset="-120"/>
              </a:rPr>
              <a:t>w</a:t>
            </a:r>
            <a:r>
              <a:rPr lang="en-US" sz="1600" dirty="0">
                <a:solidFill>
                  <a:srgbClr val="4A5568"/>
                </a:solidFill>
                <a:latin typeface="Public Sans" pitchFamily="34" charset="0"/>
                <a:ea typeface="Public Sans" pitchFamily="34" charset="-122"/>
                <a:cs typeface="Public Sans" pitchFamily="34" charset="-120"/>
              </a:rPr>
              <a:t> orienta la frontera · </a:t>
            </a:r>
            <a:r>
              <a:rPr lang="en-US" sz="1600" b="1" dirty="0">
                <a:solidFill>
                  <a:srgbClr val="14213D"/>
                </a:solidFill>
                <a:latin typeface="Public Sans" pitchFamily="34" charset="0"/>
                <a:ea typeface="Public Sans" pitchFamily="34" charset="-122"/>
                <a:cs typeface="Public Sans" pitchFamily="34" charset="-120"/>
              </a:rPr>
              <a:t>b</a:t>
            </a:r>
            <a:r>
              <a:rPr lang="en-US" sz="1600" dirty="0">
                <a:solidFill>
                  <a:srgbClr val="4A5568"/>
                </a:solidFill>
                <a:latin typeface="Public Sans" pitchFamily="34" charset="0"/>
                <a:ea typeface="Public Sans" pitchFamily="34" charset="-122"/>
                <a:cs typeface="Public Sans" pitchFamily="34" charset="-120"/>
              </a:rPr>
              <a:t> la desplaza · ŷ = sign f(x)</a:t>
            </a:r>
            <a:endParaRPr lang="en-US" sz="1600" dirty="0"/>
          </a:p>
        </p:txBody>
      </p:sp>
      <p:sp>
        <p:nvSpPr>
          <p:cNvPr id="9" name="Text 6"/>
          <p:cNvSpPr/>
          <p:nvPr/>
        </p:nvSpPr>
        <p:spPr>
          <a:xfrm>
            <a:off x="5410150" y="3610446"/>
            <a:ext cx="6148155" cy="391145"/>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14213D"/>
                </a:solidFill>
                <a:latin typeface="Oswald" pitchFamily="34" charset="0"/>
                <a:ea typeface="Oswald" pitchFamily="34" charset="-122"/>
                <a:cs typeface="Oswald" pitchFamily="34" charset="-120"/>
              </a:rPr>
              <a:t>margen = 2 / ‖w‖ ⇒ min ½‖w‖²</a:t>
            </a:r>
            <a:endParaRPr lang="en-US" sz="2400" dirty="0"/>
          </a:p>
        </p:txBody>
      </p:sp>
      <p:sp>
        <p:nvSpPr>
          <p:cNvPr id="10" name="Text 7"/>
          <p:cNvSpPr/>
          <p:nvPr/>
        </p:nvSpPr>
        <p:spPr>
          <a:xfrm>
            <a:off x="5410150" y="4179382"/>
            <a:ext cx="6148155" cy="59433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Public Sans" pitchFamily="34" charset="0"/>
                <a:ea typeface="Public Sans" pitchFamily="34" charset="-122"/>
                <a:cs typeface="Public Sans" pitchFamily="34" charset="-120"/>
              </a:rPr>
              <a:t>Los puntos sobre el borde son los </a:t>
            </a:r>
            <a:r>
              <a:rPr lang="en-US" sz="1600" b="1" dirty="0">
                <a:solidFill>
                  <a:srgbClr val="14213D"/>
                </a:solidFill>
                <a:latin typeface="Public Sans" pitchFamily="34" charset="0"/>
                <a:ea typeface="Public Sans" pitchFamily="34" charset="-122"/>
                <a:cs typeface="Public Sans" pitchFamily="34" charset="-120"/>
              </a:rPr>
              <a:t>vectores de soporte</a:t>
            </a:r>
            <a:r>
              <a:rPr lang="en-US" sz="1600" dirty="0">
                <a:solidFill>
                  <a:srgbClr val="4A5568"/>
                </a:solidFill>
                <a:latin typeface="Public Sans" pitchFamily="34" charset="0"/>
                <a:ea typeface="Public Sans" pitchFamily="34" charset="-122"/>
                <a:cs typeface="Public Sans" pitchFamily="34" charset="-120"/>
              </a:rPr>
              <a:t>: solo ellos definen la frontera.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FUNDAMENTO · MARGEN BLANDO</a:t>
            </a:r>
            <a:endParaRPr lang="en-US" sz="1200" dirty="0"/>
          </a:p>
        </p:txBody>
      </p:sp>
      <p:sp>
        <p:nvSpPr>
          <p:cNvPr id="3" name="Text 1"/>
          <p:cNvSpPr/>
          <p:nvPr>
            <p:ph type="title"/>
          </p:nvPr>
        </p:nvSpPr>
        <p:spPr>
          <a:xfrm>
            <a:off x="812767" y="1076852"/>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En la cancha no hay separación perfecta</a:t>
            </a:r>
            <a:endParaRPr lang="en-US" sz="3200" dirty="0"/>
          </a:p>
        </p:txBody>
      </p:sp>
      <p:sp>
        <p:nvSpPr>
          <p:cNvPr id="4" name="Shape 2"/>
          <p:cNvSpPr/>
          <p:nvPr/>
        </p:nvSpPr>
        <p:spPr>
          <a:xfrm>
            <a:off x="815942" y="1801347"/>
            <a:ext cx="10560116" cy="1228427"/>
          </a:xfrm>
          <a:prstGeom prst="roundRect">
            <a:avLst>
              <a:gd name="adj" fmla="val 8012"/>
            </a:avLst>
          </a:prstGeom>
          <a:solidFill>
            <a:srgbClr val="FFFDF9"/>
          </a:solidFill>
          <a:ln w="6350">
            <a:solidFill>
              <a:srgbClr val="E4E1DA"/>
            </a:solidFill>
            <a:prstDash val="solid"/>
          </a:ln>
        </p:spPr>
      </p:sp>
      <p:sp>
        <p:nvSpPr>
          <p:cNvPr id="5" name="Text 3"/>
          <p:cNvSpPr/>
          <p:nvPr/>
        </p:nvSpPr>
        <p:spPr>
          <a:xfrm>
            <a:off x="1122825" y="2032040"/>
            <a:ext cx="10244739"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14213D"/>
                </a:solidFill>
                <a:latin typeface="Oswald" pitchFamily="34" charset="0"/>
                <a:ea typeface="Oswald" pitchFamily="34" charset="-122"/>
                <a:cs typeface="Oswald" pitchFamily="34" charset="-120"/>
              </a:rPr>
              <a:t>min ½‖w‖² + C Σ ξᵢ s.a. yᵢ(wᵀxᵢ + b) ≥ 1 − ξᵢ, ξᵢ ≥ 0</a:t>
            </a:r>
            <a:endParaRPr lang="en-US" sz="2400" dirty="0"/>
          </a:p>
        </p:txBody>
      </p:sp>
      <p:sp>
        <p:nvSpPr>
          <p:cNvPr id="6" name="Text 4"/>
          <p:cNvSpPr/>
          <p:nvPr/>
        </p:nvSpPr>
        <p:spPr>
          <a:xfrm>
            <a:off x="1122825" y="2514616"/>
            <a:ext cx="10244739" cy="30986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Public Sans" pitchFamily="34" charset="0"/>
                <a:ea typeface="Public Sans" pitchFamily="34" charset="-122"/>
                <a:cs typeface="Public Sans" pitchFamily="34" charset="-120"/>
              </a:rPr>
              <a:t>≡ pérdida bisagra: C Σ max(0, 1 − yᵢ f(xᵢ)) · castiga errores y aciertos “por poco”</a:t>
            </a:r>
            <a:endParaRPr lang="en-US" sz="1600" dirty="0"/>
          </a:p>
        </p:txBody>
      </p:sp>
      <p:sp>
        <p:nvSpPr>
          <p:cNvPr id="7" name="Shape 5"/>
          <p:cNvSpPr/>
          <p:nvPr/>
        </p:nvSpPr>
        <p:spPr>
          <a:xfrm>
            <a:off x="815942" y="3290125"/>
            <a:ext cx="5175266" cy="1324959"/>
          </a:xfrm>
          <a:prstGeom prst="roundRect">
            <a:avLst>
              <a:gd name="adj" fmla="val 7429"/>
            </a:avLst>
          </a:prstGeom>
          <a:solidFill>
            <a:srgbClr val="FFFDF9"/>
          </a:solidFill>
          <a:ln w="6350">
            <a:solidFill>
              <a:srgbClr val="E4E1DA"/>
            </a:solidFill>
            <a:prstDash val="solid"/>
          </a:ln>
        </p:spPr>
      </p:sp>
      <p:sp>
        <p:nvSpPr>
          <p:cNvPr id="8" name="Text 6"/>
          <p:cNvSpPr/>
          <p:nvPr/>
        </p:nvSpPr>
        <p:spPr>
          <a:xfrm>
            <a:off x="1072059" y="3495433"/>
            <a:ext cx="4802924" cy="330167"/>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Public Sans" pitchFamily="34" charset="0"/>
                <a:ea typeface="Public Sans" pitchFamily="34" charset="-122"/>
                <a:cs typeface="Public Sans" pitchFamily="34" charset="-120"/>
              </a:rPr>
              <a:t>C pequeño · errores baratos</a:t>
            </a:r>
            <a:endParaRPr lang="en-US" sz="2000" dirty="0"/>
          </a:p>
        </p:txBody>
      </p:sp>
      <p:sp>
        <p:nvSpPr>
          <p:cNvPr id="9" name="Text 7"/>
          <p:cNvSpPr/>
          <p:nvPr/>
        </p:nvSpPr>
        <p:spPr>
          <a:xfrm>
            <a:off x="1072059" y="3876393"/>
            <a:ext cx="4802924" cy="558783"/>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Calle ancha, muchos vectores de soporte, frontera suave → riesgo de subajuste</a:t>
            </a:r>
            <a:endParaRPr lang="en-US" sz="1500" dirty="0"/>
          </a:p>
        </p:txBody>
      </p:sp>
      <p:sp>
        <p:nvSpPr>
          <p:cNvPr id="10" name="Shape 8"/>
          <p:cNvSpPr/>
          <p:nvPr/>
        </p:nvSpPr>
        <p:spPr>
          <a:xfrm>
            <a:off x="6200750" y="3290125"/>
            <a:ext cx="5175308" cy="1324959"/>
          </a:xfrm>
          <a:prstGeom prst="roundRect">
            <a:avLst>
              <a:gd name="adj" fmla="val 7429"/>
            </a:avLst>
          </a:prstGeom>
          <a:solidFill>
            <a:srgbClr val="FFFDF9"/>
          </a:solidFill>
          <a:ln w="6350">
            <a:solidFill>
              <a:srgbClr val="E4E1DA"/>
            </a:solidFill>
            <a:prstDash val="solid"/>
          </a:ln>
        </p:spPr>
      </p:sp>
      <p:sp>
        <p:nvSpPr>
          <p:cNvPr id="11" name="Text 9"/>
          <p:cNvSpPr/>
          <p:nvPr/>
        </p:nvSpPr>
        <p:spPr>
          <a:xfrm>
            <a:off x="6456867" y="3495433"/>
            <a:ext cx="4802967" cy="330167"/>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Public Sans" pitchFamily="34" charset="0"/>
                <a:ea typeface="Public Sans" pitchFamily="34" charset="-122"/>
                <a:cs typeface="Public Sans" pitchFamily="34" charset="-120"/>
              </a:rPr>
              <a:t>C grande · errores carísimos</a:t>
            </a:r>
            <a:endParaRPr lang="en-US" sz="2000" dirty="0"/>
          </a:p>
        </p:txBody>
      </p:sp>
      <p:sp>
        <p:nvSpPr>
          <p:cNvPr id="12" name="Text 10"/>
          <p:cNvSpPr/>
          <p:nvPr/>
        </p:nvSpPr>
        <p:spPr>
          <a:xfrm>
            <a:off x="6456867" y="3876393"/>
            <a:ext cx="4802967" cy="558783"/>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Calle angosta, frontera que persigue cada punto → riesgo de sobreajuste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FUNDAMENTO · TRUCO DEL KERNEL</a:t>
            </a:r>
            <a:endParaRPr lang="en-US" sz="1200" dirty="0"/>
          </a:p>
        </p:txBody>
      </p:sp>
      <p:sp>
        <p:nvSpPr>
          <p:cNvPr id="3" name="Text 1"/>
          <p:cNvSpPr/>
          <p:nvPr>
            <p:ph type="title"/>
          </p:nvPr>
        </p:nvSpPr>
        <p:spPr>
          <a:xfrm>
            <a:off x="812767" y="1076852"/>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Del dual al kernel RBF</a:t>
            </a:r>
            <a:endParaRPr lang="en-US" sz="3200" dirty="0"/>
          </a:p>
        </p:txBody>
      </p:sp>
      <p:sp>
        <p:nvSpPr>
          <p:cNvPr id="4" name="Text 2"/>
          <p:cNvSpPr/>
          <p:nvPr/>
        </p:nvSpPr>
        <p:spPr>
          <a:xfrm>
            <a:off x="812767" y="2193891"/>
            <a:ext cx="5494105"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0"/>
                </a:solidFill>
                <a:latin typeface="Public Sans" pitchFamily="34" charset="0"/>
                <a:ea typeface="Public Sans" pitchFamily="34" charset="-122"/>
                <a:cs typeface="Public Sans" pitchFamily="34" charset="-120"/>
              </a:rPr>
              <a:t>DUAL (multiplicadores de Lagrange)</a:t>
            </a:r>
            <a:endParaRPr lang="en-US" sz="1400" dirty="0"/>
          </a:p>
        </p:txBody>
      </p:sp>
      <p:sp>
        <p:nvSpPr>
          <p:cNvPr id="5" name="Text 3"/>
          <p:cNvSpPr/>
          <p:nvPr/>
        </p:nvSpPr>
        <p:spPr>
          <a:xfrm>
            <a:off x="812767" y="2620572"/>
            <a:ext cx="5494105" cy="374609"/>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14213D"/>
                </a:solidFill>
                <a:latin typeface="Oswald" pitchFamily="34" charset="0"/>
                <a:ea typeface="Oswald" pitchFamily="34" charset="-122"/>
                <a:cs typeface="Oswald" pitchFamily="34" charset="-120"/>
              </a:rPr>
              <a:t>f(x) = Σ αᵢ yᵢ K(xᵢ, x) + b, 0 ≤ αᵢ ≤ C</a:t>
            </a:r>
            <a:endParaRPr lang="en-US" sz="2200" dirty="0"/>
          </a:p>
        </p:txBody>
      </p:sp>
      <p:sp>
        <p:nvSpPr>
          <p:cNvPr id="6" name="Text 4"/>
          <p:cNvSpPr/>
          <p:nvPr/>
        </p:nvSpPr>
        <p:spPr>
          <a:xfrm>
            <a:off x="812767" y="3147547"/>
            <a:ext cx="5494105"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61B"/>
                </a:solidFill>
                <a:latin typeface="Public Sans" pitchFamily="34" charset="0"/>
                <a:ea typeface="Public Sans" pitchFamily="34" charset="-122"/>
                <a:cs typeface="Public Sans" pitchFamily="34" charset="-120"/>
              </a:rPr>
              <a:t>KERNEL RBF (gaussiano)</a:t>
            </a:r>
            <a:endParaRPr lang="en-US" sz="1400" dirty="0"/>
          </a:p>
        </p:txBody>
      </p:sp>
      <p:sp>
        <p:nvSpPr>
          <p:cNvPr id="7" name="Text 5"/>
          <p:cNvSpPr/>
          <p:nvPr/>
        </p:nvSpPr>
        <p:spPr>
          <a:xfrm>
            <a:off x="812767" y="3574231"/>
            <a:ext cx="5494105" cy="374609"/>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14213D"/>
                </a:solidFill>
                <a:latin typeface="Oswald" pitchFamily="34" charset="0"/>
                <a:ea typeface="Oswald" pitchFamily="34" charset="-122"/>
                <a:cs typeface="Oswald" pitchFamily="34" charset="-120"/>
              </a:rPr>
              <a:t>K(x, z) = exp(−γ‖x − z‖²)</a:t>
            </a:r>
            <a:endParaRPr lang="en-US" sz="2200" dirty="0"/>
          </a:p>
        </p:txBody>
      </p:sp>
      <p:sp>
        <p:nvSpPr>
          <p:cNvPr id="8" name="Text 6"/>
          <p:cNvSpPr/>
          <p:nvPr/>
        </p:nvSpPr>
        <p:spPr>
          <a:xfrm>
            <a:off x="812767" y="4101207"/>
            <a:ext cx="5494105" cy="558783"/>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Similitud por distancia: 1 si los tiros son iguales, → 0 si son distintos. Dimensión infinita sin construirla.</a:t>
            </a:r>
            <a:endParaRPr lang="en-US" sz="1500" dirty="0"/>
          </a:p>
        </p:txBody>
      </p:sp>
      <p:sp>
        <p:nvSpPr>
          <p:cNvPr id="9" name="Shape 7"/>
          <p:cNvSpPr/>
          <p:nvPr/>
        </p:nvSpPr>
        <p:spPr>
          <a:xfrm>
            <a:off x="6553233" y="1798172"/>
            <a:ext cx="4826000" cy="3232133"/>
          </a:xfrm>
          <a:prstGeom prst="roundRect">
            <a:avLst>
              <a:gd name="adj" fmla="val 3143"/>
            </a:avLst>
          </a:prstGeom>
          <a:solidFill>
            <a:srgbClr val="FFFDF9"/>
          </a:solidFill>
          <a:ln/>
        </p:spPr>
      </p:sp>
      <p:pic>
        <p:nvPicPr>
          <p:cNvPr id="10" name="Image 0" descr="Curvas del kernel RBF contra la distancia para gamma 0.1, 1 y 10">    </p:cNvPr>
          <p:cNvPicPr>
            <a:picLocks noChangeAspect="1"/>
          </p:cNvPicPr>
          <p:nvPr/>
        </p:nvPicPr>
        <p:blipFill>
          <a:blip r:embed="rId1"/>
          <a:srcRect l="-40" r="-40" t="0" b="0"/>
          <a:stretch/>
        </p:blipFill>
        <p:spPr>
          <a:xfrm>
            <a:off x="6559583" y="1804522"/>
            <a:ext cx="4813300" cy="3219433"/>
          </a:xfrm>
          <a:prstGeom prst="roundRect">
            <a:avLst>
              <a:gd name="adj" fmla="val 2959"/>
            </a:avLst>
          </a:prstGeom>
        </p:spPr>
      </p:pic>
      <p:sp>
        <p:nvSpPr>
          <p:cNvPr id="11" name="Shape 8"/>
          <p:cNvSpPr/>
          <p:nvPr/>
        </p:nvSpPr>
        <p:spPr>
          <a:xfrm>
            <a:off x="6556408" y="1801347"/>
            <a:ext cx="4819650" cy="3225783"/>
          </a:xfrm>
          <a:prstGeom prst="roundRect">
            <a:avLst>
              <a:gd name="adj" fmla="val 3051"/>
            </a:avLst>
          </a:prstGeom>
          <a:noFill/>
          <a:ln w="6350">
            <a:solidFill>
              <a:srgbClr val="E4E1DA"/>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METODOLOGÍA · IMPLEMENTACIÓN</a:t>
            </a:r>
            <a:endParaRPr lang="en-US" sz="1200" dirty="0"/>
          </a:p>
        </p:txBody>
      </p:sp>
      <p:sp>
        <p:nvSpPr>
          <p:cNvPr id="3" name="Text 1"/>
          <p:cNvSpPr/>
          <p:nvPr>
            <p:ph type="title"/>
          </p:nvPr>
        </p:nvSpPr>
        <p:spPr>
          <a:xfrm>
            <a:off x="812767" y="1076852"/>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Arquitectura en Python (scikit-learn)</a:t>
            </a:r>
            <a:endParaRPr lang="en-US" sz="3200" dirty="0"/>
          </a:p>
        </p:txBody>
      </p:sp>
      <p:sp>
        <p:nvSpPr>
          <p:cNvPr id="4" name="Shape 2"/>
          <p:cNvSpPr/>
          <p:nvPr/>
        </p:nvSpPr>
        <p:spPr>
          <a:xfrm>
            <a:off x="815942" y="1852116"/>
            <a:ext cx="2235208" cy="1078483"/>
          </a:xfrm>
          <a:prstGeom prst="roundRect">
            <a:avLst>
              <a:gd name="adj" fmla="val 9126"/>
            </a:avLst>
          </a:prstGeom>
          <a:solidFill>
            <a:srgbClr val="FFFDF9"/>
          </a:solidFill>
          <a:ln w="6350">
            <a:solidFill>
              <a:srgbClr val="E4E1DA"/>
            </a:solidFill>
            <a:prstDash val="solid"/>
          </a:ln>
        </p:spPr>
      </p:sp>
      <p:sp>
        <p:nvSpPr>
          <p:cNvPr id="5" name="Text 3"/>
          <p:cNvSpPr/>
          <p:nvPr/>
        </p:nvSpPr>
        <p:spPr>
          <a:xfrm>
            <a:off x="995825" y="2006616"/>
            <a:ext cx="19317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Public Sans" pitchFamily="34" charset="0"/>
                <a:ea typeface="Public Sans" pitchFamily="34" charset="-122"/>
                <a:cs typeface="Public Sans" pitchFamily="34" charset="-120"/>
              </a:rPr>
              <a:t>1 · DATOS</a:t>
            </a:r>
            <a:endParaRPr lang="en-US" sz="1200" dirty="0"/>
          </a:p>
        </p:txBody>
      </p:sp>
      <p:sp>
        <p:nvSpPr>
          <p:cNvPr id="6" name="Text 4"/>
          <p:cNvSpPr/>
          <p:nvPr/>
        </p:nvSpPr>
        <p:spPr>
          <a:xfrm>
            <a:off x="995825" y="2258011"/>
            <a:ext cx="1931704" cy="292092"/>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Public Sans" pitchFamily="34" charset="0"/>
                <a:ea typeface="Public Sans" pitchFamily="34" charset="-122"/>
                <a:cs typeface="Public Sans" pitchFamily="34" charset="-120"/>
              </a:rPr>
              <a:t>shot_logs.csv</a:t>
            </a:r>
            <a:endParaRPr lang="en-US" sz="1500" dirty="0"/>
          </a:p>
        </p:txBody>
      </p:sp>
      <p:sp>
        <p:nvSpPr>
          <p:cNvPr id="7" name="Text 5"/>
          <p:cNvSpPr/>
          <p:nvPr/>
        </p:nvSpPr>
        <p:spPr>
          <a:xfrm>
            <a:off x="995825" y="2562777"/>
            <a:ext cx="19317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128 069 tiros</a:t>
            </a:r>
            <a:endParaRPr lang="en-US" sz="1200" dirty="0"/>
          </a:p>
        </p:txBody>
      </p:sp>
      <p:pic>
        <p:nvPicPr>
          <p:cNvPr id="8" name="Image 0" descr="arrow-right">    </p:cNvPr>
          <p:cNvPicPr>
            <a:picLocks noChangeAspect="1"/>
          </p:cNvPicPr>
          <p:nvPr/>
        </p:nvPicPr>
        <p:blipFill>
          <a:blip r:embed="rId1"/>
          <a:srcRect l="0" r="0" t="0" b="0"/>
          <a:stretch/>
        </p:blipFill>
        <p:spPr>
          <a:xfrm>
            <a:off x="3181325" y="2321511"/>
            <a:ext cx="279383" cy="139692"/>
          </a:xfrm>
          <a:prstGeom prst="rect">
            <a:avLst/>
          </a:prstGeom>
        </p:spPr>
      </p:pic>
      <p:sp>
        <p:nvSpPr>
          <p:cNvPr id="9" name="Shape 6"/>
          <p:cNvSpPr/>
          <p:nvPr/>
        </p:nvSpPr>
        <p:spPr>
          <a:xfrm>
            <a:off x="3590884" y="1852116"/>
            <a:ext cx="2235250" cy="1078483"/>
          </a:xfrm>
          <a:prstGeom prst="roundRect">
            <a:avLst>
              <a:gd name="adj" fmla="val 9126"/>
            </a:avLst>
          </a:prstGeom>
          <a:solidFill>
            <a:srgbClr val="FFFDF9"/>
          </a:solidFill>
          <a:ln w="6350">
            <a:solidFill>
              <a:srgbClr val="E4E1DA"/>
            </a:solidFill>
            <a:prstDash val="solid"/>
          </a:ln>
        </p:spPr>
      </p:sp>
      <p:sp>
        <p:nvSpPr>
          <p:cNvPr id="10" name="Text 7"/>
          <p:cNvSpPr/>
          <p:nvPr/>
        </p:nvSpPr>
        <p:spPr>
          <a:xfrm>
            <a:off x="3770767" y="2006616"/>
            <a:ext cx="19317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Public Sans" pitchFamily="34" charset="0"/>
                <a:ea typeface="Public Sans" pitchFamily="34" charset="-122"/>
                <a:cs typeface="Public Sans" pitchFamily="34" charset="-120"/>
              </a:rPr>
              <a:t>2 · LIMPIEZA</a:t>
            </a:r>
            <a:endParaRPr lang="en-US" sz="1200" dirty="0"/>
          </a:p>
        </p:txBody>
      </p:sp>
      <p:sp>
        <p:nvSpPr>
          <p:cNvPr id="11" name="Text 8"/>
          <p:cNvSpPr/>
          <p:nvPr/>
        </p:nvSpPr>
        <p:spPr>
          <a:xfrm>
            <a:off x="3770767" y="2258011"/>
            <a:ext cx="1931747" cy="292092"/>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Public Sans" pitchFamily="34" charset="0"/>
                <a:ea typeface="Public Sans" pitchFamily="34" charset="-122"/>
                <a:cs typeface="Public Sans" pitchFamily="34" charset="-120"/>
              </a:rPr>
              <a:t>Nulos y errores</a:t>
            </a:r>
            <a:endParaRPr lang="en-US" sz="1500" dirty="0"/>
          </a:p>
        </p:txBody>
      </p:sp>
      <p:sp>
        <p:nvSpPr>
          <p:cNvPr id="12" name="Text 9"/>
          <p:cNvSpPr/>
          <p:nvPr/>
        </p:nvSpPr>
        <p:spPr>
          <a:xfrm>
            <a:off x="3770767" y="2562777"/>
            <a:ext cx="1931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120 921 tiros</a:t>
            </a:r>
            <a:endParaRPr lang="en-US" sz="1200" dirty="0"/>
          </a:p>
        </p:txBody>
      </p:sp>
      <p:pic>
        <p:nvPicPr>
          <p:cNvPr id="13" name="Image 1" descr="arrow-right">    </p:cNvPr>
          <p:cNvPicPr>
            <a:picLocks noChangeAspect="1"/>
          </p:cNvPicPr>
          <p:nvPr/>
        </p:nvPicPr>
        <p:blipFill>
          <a:blip r:embed="rId2"/>
          <a:srcRect l="0" r="0" t="0" b="0"/>
          <a:stretch/>
        </p:blipFill>
        <p:spPr>
          <a:xfrm>
            <a:off x="5956308" y="2321511"/>
            <a:ext cx="279383" cy="139692"/>
          </a:xfrm>
          <a:prstGeom prst="rect">
            <a:avLst/>
          </a:prstGeom>
        </p:spPr>
      </p:pic>
      <p:sp>
        <p:nvSpPr>
          <p:cNvPr id="14" name="Shape 10"/>
          <p:cNvSpPr/>
          <p:nvPr/>
        </p:nvSpPr>
        <p:spPr>
          <a:xfrm>
            <a:off x="6365866" y="1852116"/>
            <a:ext cx="2235208" cy="1078483"/>
          </a:xfrm>
          <a:prstGeom prst="roundRect">
            <a:avLst>
              <a:gd name="adj" fmla="val 9126"/>
            </a:avLst>
          </a:prstGeom>
          <a:solidFill>
            <a:srgbClr val="FFFDF9"/>
          </a:solidFill>
          <a:ln w="6350">
            <a:solidFill>
              <a:srgbClr val="E4E1DA"/>
            </a:solidFill>
            <a:prstDash val="solid"/>
          </a:ln>
        </p:spPr>
      </p:sp>
      <p:sp>
        <p:nvSpPr>
          <p:cNvPr id="15" name="Text 11"/>
          <p:cNvSpPr/>
          <p:nvPr/>
        </p:nvSpPr>
        <p:spPr>
          <a:xfrm>
            <a:off x="6545750" y="2006616"/>
            <a:ext cx="19317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Public Sans" pitchFamily="34" charset="0"/>
                <a:ea typeface="Public Sans" pitchFamily="34" charset="-122"/>
                <a:cs typeface="Public Sans" pitchFamily="34" charset="-120"/>
              </a:rPr>
              <a:t>3 · MUESTRA</a:t>
            </a:r>
            <a:endParaRPr lang="en-US" sz="1200" dirty="0"/>
          </a:p>
        </p:txBody>
      </p:sp>
      <p:sp>
        <p:nvSpPr>
          <p:cNvPr id="16" name="Text 12"/>
          <p:cNvSpPr/>
          <p:nvPr/>
        </p:nvSpPr>
        <p:spPr>
          <a:xfrm>
            <a:off x="6545750" y="2258011"/>
            <a:ext cx="1931704" cy="292092"/>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Public Sans" pitchFamily="34" charset="0"/>
                <a:ea typeface="Public Sans" pitchFamily="34" charset="-122"/>
                <a:cs typeface="Public Sans" pitchFamily="34" charset="-120"/>
              </a:rPr>
              <a:t>Estratificada</a:t>
            </a:r>
            <a:endParaRPr lang="en-US" sz="1500" dirty="0"/>
          </a:p>
        </p:txBody>
      </p:sp>
      <p:sp>
        <p:nvSpPr>
          <p:cNvPr id="17" name="Text 13"/>
          <p:cNvSpPr/>
          <p:nvPr/>
        </p:nvSpPr>
        <p:spPr>
          <a:xfrm>
            <a:off x="6545750" y="2562777"/>
            <a:ext cx="19317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20 000 · semilla 42</a:t>
            </a:r>
            <a:endParaRPr lang="en-US" sz="1200" dirty="0"/>
          </a:p>
        </p:txBody>
      </p:sp>
      <p:pic>
        <p:nvPicPr>
          <p:cNvPr id="18" name="Image 2" descr="arrow-right">    </p:cNvPr>
          <p:cNvPicPr>
            <a:picLocks noChangeAspect="1"/>
          </p:cNvPicPr>
          <p:nvPr/>
        </p:nvPicPr>
        <p:blipFill>
          <a:blip r:embed="rId3"/>
          <a:srcRect l="0" r="0" t="0" b="0"/>
          <a:stretch/>
        </p:blipFill>
        <p:spPr>
          <a:xfrm>
            <a:off x="8731250" y="2321511"/>
            <a:ext cx="279383" cy="139692"/>
          </a:xfrm>
          <a:prstGeom prst="rect">
            <a:avLst/>
          </a:prstGeom>
        </p:spPr>
      </p:pic>
      <p:sp>
        <p:nvSpPr>
          <p:cNvPr id="19" name="Shape 14"/>
          <p:cNvSpPr/>
          <p:nvPr/>
        </p:nvSpPr>
        <p:spPr>
          <a:xfrm>
            <a:off x="9140808" y="1852116"/>
            <a:ext cx="2235250" cy="1078483"/>
          </a:xfrm>
          <a:prstGeom prst="roundRect">
            <a:avLst>
              <a:gd name="adj" fmla="val 9126"/>
            </a:avLst>
          </a:prstGeom>
          <a:solidFill>
            <a:srgbClr val="FFFDF9"/>
          </a:solidFill>
          <a:ln w="6350">
            <a:solidFill>
              <a:srgbClr val="E4E1DA"/>
            </a:solidFill>
            <a:prstDash val="solid"/>
          </a:ln>
        </p:spPr>
      </p:sp>
      <p:sp>
        <p:nvSpPr>
          <p:cNvPr id="20" name="Text 15"/>
          <p:cNvSpPr/>
          <p:nvPr/>
        </p:nvSpPr>
        <p:spPr>
          <a:xfrm>
            <a:off x="9320692" y="2006616"/>
            <a:ext cx="19317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Public Sans" pitchFamily="34" charset="0"/>
                <a:ea typeface="Public Sans" pitchFamily="34" charset="-122"/>
                <a:cs typeface="Public Sans" pitchFamily="34" charset="-120"/>
              </a:rPr>
              <a:t>4 · SPLIT</a:t>
            </a:r>
            <a:endParaRPr lang="en-US" sz="1200" dirty="0"/>
          </a:p>
        </p:txBody>
      </p:sp>
      <p:sp>
        <p:nvSpPr>
          <p:cNvPr id="21" name="Text 16"/>
          <p:cNvSpPr/>
          <p:nvPr/>
        </p:nvSpPr>
        <p:spPr>
          <a:xfrm>
            <a:off x="9320692" y="2258011"/>
            <a:ext cx="1931747" cy="292092"/>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Public Sans" pitchFamily="34" charset="0"/>
                <a:ea typeface="Public Sans" pitchFamily="34" charset="-122"/>
                <a:cs typeface="Public Sans" pitchFamily="34" charset="-120"/>
              </a:rPr>
              <a:t>75 / 25</a:t>
            </a:r>
            <a:endParaRPr lang="en-US" sz="1500" dirty="0"/>
          </a:p>
        </p:txBody>
      </p:sp>
      <p:sp>
        <p:nvSpPr>
          <p:cNvPr id="22" name="Text 17"/>
          <p:cNvSpPr/>
          <p:nvPr/>
        </p:nvSpPr>
        <p:spPr>
          <a:xfrm>
            <a:off x="9320692" y="2562777"/>
            <a:ext cx="1931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15 000 / 5 000</a:t>
            </a:r>
            <a:endParaRPr lang="en-US" sz="1200" dirty="0"/>
          </a:p>
        </p:txBody>
      </p:sp>
      <p:sp>
        <p:nvSpPr>
          <p:cNvPr id="23" name="Shape 18"/>
          <p:cNvSpPr/>
          <p:nvPr/>
        </p:nvSpPr>
        <p:spPr>
          <a:xfrm>
            <a:off x="812767" y="3243833"/>
            <a:ext cx="2236267" cy="1074250"/>
          </a:xfrm>
          <a:prstGeom prst="roundRect">
            <a:avLst>
              <a:gd name="adj" fmla="val 9458"/>
            </a:avLst>
          </a:prstGeom>
          <a:solidFill>
            <a:srgbClr val="14213D"/>
          </a:solidFill>
          <a:ln/>
        </p:spPr>
      </p:sp>
      <p:sp>
        <p:nvSpPr>
          <p:cNvPr id="24" name="Text 19"/>
          <p:cNvSpPr/>
          <p:nvPr/>
        </p:nvSpPr>
        <p:spPr>
          <a:xfrm>
            <a:off x="990534" y="3396214"/>
            <a:ext cx="19371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D3E3"/>
                </a:solidFill>
                <a:latin typeface="Public Sans" pitchFamily="34" charset="0"/>
                <a:ea typeface="Public Sans" pitchFamily="34" charset="-122"/>
                <a:cs typeface="Public Sans" pitchFamily="34" charset="-120"/>
              </a:rPr>
              <a:t>5 · PIPELINE</a:t>
            </a:r>
            <a:endParaRPr lang="en-US" sz="1200" dirty="0"/>
          </a:p>
        </p:txBody>
      </p:sp>
      <p:sp>
        <p:nvSpPr>
          <p:cNvPr id="25" name="Text 20"/>
          <p:cNvSpPr/>
          <p:nvPr/>
        </p:nvSpPr>
        <p:spPr>
          <a:xfrm>
            <a:off x="990534" y="3647610"/>
            <a:ext cx="1937155" cy="292092"/>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7F5F0"/>
                </a:solidFill>
                <a:latin typeface="Public Sans" pitchFamily="34" charset="0"/>
                <a:ea typeface="Public Sans" pitchFamily="34" charset="-122"/>
                <a:cs typeface="Public Sans" pitchFamily="34" charset="-120"/>
              </a:rPr>
              <a:t>StandardScaler</a:t>
            </a:r>
            <a:endParaRPr lang="en-US" sz="1500" dirty="0"/>
          </a:p>
        </p:txBody>
      </p:sp>
      <p:sp>
        <p:nvSpPr>
          <p:cNvPr id="26" name="Text 21"/>
          <p:cNvSpPr/>
          <p:nvPr/>
        </p:nvSpPr>
        <p:spPr>
          <a:xfrm>
            <a:off x="990534" y="3952379"/>
            <a:ext cx="19371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Public Sans" pitchFamily="34" charset="0"/>
                <a:ea typeface="Public Sans" pitchFamily="34" charset="-122"/>
                <a:cs typeface="Public Sans" pitchFamily="34" charset="-120"/>
              </a:rPr>
              <a:t>z = (x − μ) / σ</a:t>
            </a:r>
            <a:endParaRPr lang="en-US" sz="1200" dirty="0"/>
          </a:p>
        </p:txBody>
      </p:sp>
      <p:pic>
        <p:nvPicPr>
          <p:cNvPr id="27" name="Image 3" descr="arrow-right">    </p:cNvPr>
          <p:cNvPicPr>
            <a:picLocks noChangeAspect="1"/>
          </p:cNvPicPr>
          <p:nvPr/>
        </p:nvPicPr>
        <p:blipFill>
          <a:blip r:embed="rId4"/>
          <a:srcRect l="0" r="0" t="0" b="0"/>
          <a:stretch/>
        </p:blipFill>
        <p:spPr>
          <a:xfrm>
            <a:off x="3176033" y="3711110"/>
            <a:ext cx="279383" cy="139692"/>
          </a:xfrm>
          <a:prstGeom prst="rect">
            <a:avLst/>
          </a:prstGeom>
        </p:spPr>
      </p:pic>
      <p:sp>
        <p:nvSpPr>
          <p:cNvPr id="28" name="Shape 22"/>
          <p:cNvSpPr/>
          <p:nvPr/>
        </p:nvSpPr>
        <p:spPr>
          <a:xfrm>
            <a:off x="3582417" y="3243833"/>
            <a:ext cx="2236308" cy="1074250"/>
          </a:xfrm>
          <a:prstGeom prst="roundRect">
            <a:avLst>
              <a:gd name="adj" fmla="val 9458"/>
            </a:avLst>
          </a:prstGeom>
          <a:solidFill>
            <a:srgbClr val="14213D"/>
          </a:solidFill>
          <a:ln/>
        </p:spPr>
      </p:sp>
      <p:sp>
        <p:nvSpPr>
          <p:cNvPr id="29" name="Text 23"/>
          <p:cNvSpPr/>
          <p:nvPr/>
        </p:nvSpPr>
        <p:spPr>
          <a:xfrm>
            <a:off x="3760184" y="3396214"/>
            <a:ext cx="19371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D3E3"/>
                </a:solidFill>
                <a:latin typeface="Public Sans" pitchFamily="34" charset="0"/>
                <a:ea typeface="Public Sans" pitchFamily="34" charset="-122"/>
                <a:cs typeface="Public Sans" pitchFamily="34" charset="-120"/>
              </a:rPr>
              <a:t>6 · MODELO</a:t>
            </a:r>
            <a:endParaRPr lang="en-US" sz="1200" dirty="0"/>
          </a:p>
        </p:txBody>
      </p:sp>
      <p:sp>
        <p:nvSpPr>
          <p:cNvPr id="30" name="Text 24"/>
          <p:cNvSpPr/>
          <p:nvPr/>
        </p:nvSpPr>
        <p:spPr>
          <a:xfrm>
            <a:off x="3760184" y="3647610"/>
            <a:ext cx="1937197" cy="292092"/>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7F5F0"/>
                </a:solidFill>
                <a:latin typeface="Public Sans" pitchFamily="34" charset="0"/>
                <a:ea typeface="Public Sans" pitchFamily="34" charset="-122"/>
                <a:cs typeface="Public Sans" pitchFamily="34" charset="-120"/>
              </a:rPr>
              <a:t>SVC</a:t>
            </a:r>
            <a:endParaRPr lang="en-US" sz="1500" dirty="0"/>
          </a:p>
        </p:txBody>
      </p:sp>
      <p:sp>
        <p:nvSpPr>
          <p:cNvPr id="31" name="Text 25"/>
          <p:cNvSpPr/>
          <p:nvPr/>
        </p:nvSpPr>
        <p:spPr>
          <a:xfrm>
            <a:off x="3760184" y="3952379"/>
            <a:ext cx="19371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Public Sans" pitchFamily="34" charset="0"/>
                <a:ea typeface="Public Sans" pitchFamily="34" charset="-122"/>
                <a:cs typeface="Public Sans" pitchFamily="34" charset="-120"/>
              </a:rPr>
              <a:t>lineal · RBF</a:t>
            </a:r>
            <a:endParaRPr lang="en-US" sz="1200" dirty="0"/>
          </a:p>
        </p:txBody>
      </p:sp>
      <p:pic>
        <p:nvPicPr>
          <p:cNvPr id="32" name="Image 4" descr="arrow-right">    </p:cNvPr>
          <p:cNvPicPr>
            <a:picLocks noChangeAspect="1"/>
          </p:cNvPicPr>
          <p:nvPr/>
        </p:nvPicPr>
        <p:blipFill>
          <a:blip r:embed="rId5"/>
          <a:srcRect l="0" r="0" t="0" b="0"/>
          <a:stretch/>
        </p:blipFill>
        <p:spPr>
          <a:xfrm>
            <a:off x="5945725" y="3711110"/>
            <a:ext cx="279383" cy="139692"/>
          </a:xfrm>
          <a:prstGeom prst="rect">
            <a:avLst/>
          </a:prstGeom>
        </p:spPr>
      </p:pic>
      <p:sp>
        <p:nvSpPr>
          <p:cNvPr id="33" name="Shape 26"/>
          <p:cNvSpPr/>
          <p:nvPr/>
        </p:nvSpPr>
        <p:spPr>
          <a:xfrm>
            <a:off x="6355283" y="3241715"/>
            <a:ext cx="2240500" cy="1078483"/>
          </a:xfrm>
          <a:prstGeom prst="roundRect">
            <a:avLst>
              <a:gd name="adj" fmla="val 9126"/>
            </a:avLst>
          </a:prstGeom>
          <a:solidFill>
            <a:srgbClr val="FFFDF9"/>
          </a:solidFill>
          <a:ln w="6350">
            <a:solidFill>
              <a:srgbClr val="E4E1DA"/>
            </a:solidFill>
            <a:prstDash val="solid"/>
          </a:ln>
        </p:spPr>
      </p:sp>
      <p:sp>
        <p:nvSpPr>
          <p:cNvPr id="34" name="Text 27"/>
          <p:cNvSpPr/>
          <p:nvPr/>
        </p:nvSpPr>
        <p:spPr>
          <a:xfrm>
            <a:off x="6535167" y="3396214"/>
            <a:ext cx="19371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Public Sans" pitchFamily="34" charset="0"/>
                <a:ea typeface="Public Sans" pitchFamily="34" charset="-122"/>
                <a:cs typeface="Public Sans" pitchFamily="34" charset="-120"/>
              </a:rPr>
              <a:t>7 · BÚSQUEDA</a:t>
            </a:r>
            <a:endParaRPr lang="en-US" sz="1200" dirty="0"/>
          </a:p>
        </p:txBody>
      </p:sp>
      <p:sp>
        <p:nvSpPr>
          <p:cNvPr id="35" name="Text 28"/>
          <p:cNvSpPr/>
          <p:nvPr/>
        </p:nvSpPr>
        <p:spPr>
          <a:xfrm>
            <a:off x="6535167" y="3647610"/>
            <a:ext cx="1937155" cy="292092"/>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Public Sans" pitchFamily="34" charset="0"/>
                <a:ea typeface="Public Sans" pitchFamily="34" charset="-122"/>
                <a:cs typeface="Public Sans" pitchFamily="34" charset="-120"/>
              </a:rPr>
              <a:t>GridSearchCV</a:t>
            </a:r>
            <a:endParaRPr lang="en-US" sz="1500" dirty="0"/>
          </a:p>
        </p:txBody>
      </p:sp>
      <p:sp>
        <p:nvSpPr>
          <p:cNvPr id="36" name="Text 29"/>
          <p:cNvSpPr/>
          <p:nvPr/>
        </p:nvSpPr>
        <p:spPr>
          <a:xfrm>
            <a:off x="6535167" y="3952379"/>
            <a:ext cx="19371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5-fold · ROC-AUC</a:t>
            </a:r>
            <a:endParaRPr lang="en-US" sz="1200" dirty="0"/>
          </a:p>
        </p:txBody>
      </p:sp>
      <p:pic>
        <p:nvPicPr>
          <p:cNvPr id="37" name="Image 5" descr="arrow-right">    </p:cNvPr>
          <p:cNvPicPr>
            <a:picLocks noChangeAspect="1"/>
          </p:cNvPicPr>
          <p:nvPr/>
        </p:nvPicPr>
        <p:blipFill>
          <a:blip r:embed="rId6"/>
          <a:srcRect l="0" r="0" t="0" b="0"/>
          <a:stretch/>
        </p:blipFill>
        <p:spPr>
          <a:xfrm>
            <a:off x="8725958" y="3711110"/>
            <a:ext cx="279383" cy="139692"/>
          </a:xfrm>
          <a:prstGeom prst="rect">
            <a:avLst/>
          </a:prstGeom>
        </p:spPr>
      </p:pic>
      <p:sp>
        <p:nvSpPr>
          <p:cNvPr id="38" name="Shape 30"/>
          <p:cNvSpPr/>
          <p:nvPr/>
        </p:nvSpPr>
        <p:spPr>
          <a:xfrm>
            <a:off x="9135517" y="3241715"/>
            <a:ext cx="2240541" cy="1078483"/>
          </a:xfrm>
          <a:prstGeom prst="roundRect">
            <a:avLst>
              <a:gd name="adj" fmla="val 9126"/>
            </a:avLst>
          </a:prstGeom>
          <a:solidFill>
            <a:srgbClr val="FFFDF9"/>
          </a:solidFill>
          <a:ln w="6350">
            <a:solidFill>
              <a:srgbClr val="E4E1DA"/>
            </a:solidFill>
            <a:prstDash val="solid"/>
          </a:ln>
        </p:spPr>
      </p:sp>
      <p:sp>
        <p:nvSpPr>
          <p:cNvPr id="39" name="Text 31"/>
          <p:cNvSpPr/>
          <p:nvPr/>
        </p:nvSpPr>
        <p:spPr>
          <a:xfrm>
            <a:off x="9315400" y="3396214"/>
            <a:ext cx="19371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Public Sans" pitchFamily="34" charset="0"/>
                <a:ea typeface="Public Sans" pitchFamily="34" charset="-122"/>
                <a:cs typeface="Public Sans" pitchFamily="34" charset="-120"/>
              </a:rPr>
              <a:t>8 · EVALUACIÓN</a:t>
            </a:r>
            <a:endParaRPr lang="en-US" sz="1200" dirty="0"/>
          </a:p>
        </p:txBody>
      </p:sp>
      <p:sp>
        <p:nvSpPr>
          <p:cNvPr id="40" name="Text 32"/>
          <p:cNvSpPr/>
          <p:nvPr/>
        </p:nvSpPr>
        <p:spPr>
          <a:xfrm>
            <a:off x="9315400" y="3647610"/>
            <a:ext cx="1937197" cy="292092"/>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Public Sans" pitchFamily="34" charset="0"/>
                <a:ea typeface="Public Sans" pitchFamily="34" charset="-122"/>
                <a:cs typeface="Public Sans" pitchFamily="34" charset="-120"/>
              </a:rPr>
              <a:t>Test nunca visto</a:t>
            </a:r>
            <a:endParaRPr lang="en-US" sz="1500" dirty="0"/>
          </a:p>
        </p:txBody>
      </p:sp>
      <p:sp>
        <p:nvSpPr>
          <p:cNvPr id="41" name="Text 33"/>
          <p:cNvSpPr/>
          <p:nvPr/>
        </p:nvSpPr>
        <p:spPr>
          <a:xfrm>
            <a:off x="9315400" y="3952379"/>
            <a:ext cx="19371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métricas y tiempos</a:t>
            </a:r>
            <a:endParaRPr lang="en-US" sz="1200" dirty="0"/>
          </a:p>
        </p:txBody>
      </p:sp>
      <p:sp>
        <p:nvSpPr>
          <p:cNvPr id="42" name="Text 34"/>
          <p:cNvSpPr/>
          <p:nvPr/>
        </p:nvSpPr>
        <p:spPr>
          <a:xfrm>
            <a:off x="812767" y="4628139"/>
            <a:ext cx="10883460" cy="29209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El escalado va </a:t>
            </a:r>
            <a:r>
              <a:rPr lang="en-US" sz="1500" b="1" dirty="0">
                <a:solidFill>
                  <a:srgbClr val="14213D"/>
                </a:solidFill>
                <a:latin typeface="Public Sans" pitchFamily="34" charset="0"/>
                <a:ea typeface="Public Sans" pitchFamily="34" charset="-122"/>
                <a:cs typeface="Public Sans" pitchFamily="34" charset="-120"/>
              </a:rPr>
              <a:t>dentro del Pipeline</a:t>
            </a:r>
            <a:r>
              <a:rPr lang="en-US" sz="1500" dirty="0">
                <a:solidFill>
                  <a:srgbClr val="4A5568"/>
                </a:solidFill>
                <a:latin typeface="Public Sans" pitchFamily="34" charset="0"/>
                <a:ea typeface="Public Sans" pitchFamily="34" charset="-122"/>
                <a:cs typeface="Public Sans" pitchFamily="34" charset="-120"/>
              </a:rPr>
              <a:t>: en cada fold se ajusta solo con los datos de entrenamiento → sin data leakage.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METODOLOGÍA · TEORÍA ↔ PRÁCTICA</a:t>
            </a:r>
            <a:endParaRPr lang="en-US" sz="1200" dirty="0"/>
          </a:p>
        </p:txBody>
      </p:sp>
      <p:sp>
        <p:nvSpPr>
          <p:cNvPr id="3" name="Text 1"/>
          <p:cNvSpPr/>
          <p:nvPr>
            <p:ph type="title"/>
          </p:nvPr>
        </p:nvSpPr>
        <p:spPr>
          <a:xfrm>
            <a:off x="812767" y="1076852"/>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Qué significa cada concepto en la cancha</a:t>
            </a:r>
            <a:endParaRPr lang="en-US" sz="3200" dirty="0"/>
          </a:p>
        </p:txBody>
      </p:sp>
      <p:sp>
        <p:nvSpPr>
          <p:cNvPr id="4" name="Shape 2"/>
          <p:cNvSpPr/>
          <p:nvPr/>
        </p:nvSpPr>
        <p:spPr>
          <a:xfrm>
            <a:off x="812767" y="1798172"/>
            <a:ext cx="10566466" cy="3087357"/>
          </a:xfrm>
          <a:prstGeom prst="rect">
            <a:avLst/>
          </a:prstGeom>
          <a:solidFill>
            <a:srgbClr val="FFFDF9"/>
          </a:solidFill>
          <a:ln/>
        </p:spPr>
      </p:sp>
      <p:sp>
        <p:nvSpPr>
          <p:cNvPr id="5" name="Shape 3"/>
          <p:cNvSpPr/>
          <p:nvPr/>
        </p:nvSpPr>
        <p:spPr>
          <a:xfrm>
            <a:off x="11376058" y="1798172"/>
            <a:ext cx="0" cy="3087357"/>
          </a:xfrm>
          <a:prstGeom prst="line">
            <a:avLst/>
          </a:prstGeom>
          <a:noFill/>
          <a:ln w="6350">
            <a:solidFill>
              <a:srgbClr val="E4E1DA"/>
            </a:solidFill>
            <a:prstDash val="solid"/>
          </a:ln>
        </p:spPr>
      </p:sp>
      <p:sp>
        <p:nvSpPr>
          <p:cNvPr id="6" name="Shape 4"/>
          <p:cNvSpPr/>
          <p:nvPr/>
        </p:nvSpPr>
        <p:spPr>
          <a:xfrm>
            <a:off x="812767" y="4882354"/>
            <a:ext cx="10566466" cy="0"/>
          </a:xfrm>
          <a:prstGeom prst="line">
            <a:avLst/>
          </a:prstGeom>
          <a:noFill/>
          <a:ln w="6350">
            <a:solidFill>
              <a:srgbClr val="E4E1DA"/>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3350" y="1808756"/>
          <a:ext cx="10550591" cy="3071482"/>
        </p:xfrm>
        <a:graphic>
          <a:graphicData uri="http://schemas.openxmlformats.org/drawingml/2006/table">
            <a:tbl>
              <a:tblPr/>
              <a:tblGrid>
                <a:gridCol w="3587201"/>
                <a:gridCol w="6963390"/>
              </a:tblGrid>
              <a:tr h="383935">
                <a:tc>
                  <a:txBody>
                    <a:bodyPr/>
                    <a:lstStyle/>
                    <a:p>
                      <a:pPr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Concepto matemático</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7"/>
                    </a:solidFill>
                  </a:tcPr>
                </a:tc>
                <a:tc>
                  <a:txBody>
                    <a:bodyPr/>
                    <a:lstStyle/>
                    <a:p>
                      <a:pPr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En los tiros de la NBA</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7"/>
                    </a:solidFill>
                  </a:tcPr>
                </a:tc>
              </a:tr>
              <a:tr h="383935">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Vector xᵢ ∈ ℝ⁶</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Distancia, defensor, reloj, botes, tiempo con el balón, periodo</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3935">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Etiqueta yᵢ</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+1 encestado · −1 fallado</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3935">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Hiperplano wᵀx + b = 0</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Frontera lineal entre encestes y fallos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3935">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Holgura ξᵢ y C</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Tiros parecidos con resultado distinto: se permiten, pero se cobran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3935">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Kernel RBF y γ</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Frontera curva: interacción distancia × defensor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3935">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Vectores de soporte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Los tiros ambiguos cerca de la frontera</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3935">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Validación cruzada</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Elegir C y γ sin tocar el conjunto de prueba</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DATOS · FUENTE Y LIMPIEZA</a:t>
            </a:r>
            <a:endParaRPr lang="en-US" sz="1200" dirty="0"/>
          </a:p>
        </p:txBody>
      </p:sp>
      <p:sp>
        <p:nvSpPr>
          <p:cNvPr id="3" name="Text 1"/>
          <p:cNvSpPr/>
          <p:nvPr>
            <p:ph type="title"/>
          </p:nvPr>
        </p:nvSpPr>
        <p:spPr>
          <a:xfrm>
            <a:off x="812767" y="1076852"/>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128 069 tiros de la temporada 2014-15</a:t>
            </a:r>
            <a:endParaRPr lang="en-US" sz="3200" dirty="0"/>
          </a:p>
        </p:txBody>
      </p:sp>
      <p:sp>
        <p:nvSpPr>
          <p:cNvPr id="4" name="Shape 2"/>
          <p:cNvSpPr/>
          <p:nvPr/>
        </p:nvSpPr>
        <p:spPr>
          <a:xfrm>
            <a:off x="815942" y="1852116"/>
            <a:ext cx="3549650" cy="1138138"/>
          </a:xfrm>
          <a:prstGeom prst="roundRect">
            <a:avLst>
              <a:gd name="adj" fmla="val 8648"/>
            </a:avLst>
          </a:prstGeom>
          <a:solidFill>
            <a:srgbClr val="FFFDF9"/>
          </a:solidFill>
          <a:ln w="6350">
            <a:solidFill>
              <a:srgbClr val="E4E1DA"/>
            </a:solidFill>
            <a:prstDash val="solid"/>
          </a:ln>
        </p:spPr>
      </p:sp>
      <p:sp>
        <p:nvSpPr>
          <p:cNvPr id="5" name="Text 3"/>
          <p:cNvSpPr/>
          <p:nvPr/>
        </p:nvSpPr>
        <p:spPr>
          <a:xfrm>
            <a:off x="1021250" y="2032000"/>
            <a:ext cx="32332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D0"/>
                </a:solidFill>
                <a:latin typeface="Public Sans" pitchFamily="34" charset="0"/>
                <a:ea typeface="Public Sans" pitchFamily="34" charset="-122"/>
                <a:cs typeface="Public Sans" pitchFamily="34" charset="-120"/>
              </a:rPr>
              <a:t>FUENTE</a:t>
            </a:r>
            <a:endParaRPr lang="en-US" sz="1200" dirty="0"/>
          </a:p>
        </p:txBody>
      </p:sp>
      <p:sp>
        <p:nvSpPr>
          <p:cNvPr id="6" name="Text 4"/>
          <p:cNvSpPr/>
          <p:nvPr/>
        </p:nvSpPr>
        <p:spPr>
          <a:xfrm>
            <a:off x="1021250" y="2296083"/>
            <a:ext cx="3233204" cy="539684"/>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Public Sans" pitchFamily="34" charset="0"/>
                <a:ea typeface="Public Sans" pitchFamily="34" charset="-122"/>
                <a:cs typeface="Public Sans" pitchFamily="34" charset="-120"/>
              </a:rPr>
              <a:t>NBA shot logs · Kaggle (dansbecker/nba-shot-logs)</a:t>
            </a:r>
            <a:endParaRPr lang="en-US" sz="1500" dirty="0"/>
          </a:p>
        </p:txBody>
      </p:sp>
      <p:sp>
        <p:nvSpPr>
          <p:cNvPr id="7" name="Shape 5"/>
          <p:cNvSpPr/>
          <p:nvPr/>
        </p:nvSpPr>
        <p:spPr>
          <a:xfrm>
            <a:off x="815942" y="3148986"/>
            <a:ext cx="3549650" cy="1138138"/>
          </a:xfrm>
          <a:prstGeom prst="roundRect">
            <a:avLst>
              <a:gd name="adj" fmla="val 8648"/>
            </a:avLst>
          </a:prstGeom>
          <a:solidFill>
            <a:srgbClr val="FFFDF9"/>
          </a:solidFill>
          <a:ln w="6350">
            <a:solidFill>
              <a:srgbClr val="E4E1DA"/>
            </a:solidFill>
            <a:prstDash val="solid"/>
          </a:ln>
        </p:spPr>
      </p:sp>
      <p:sp>
        <p:nvSpPr>
          <p:cNvPr id="8" name="Text 6"/>
          <p:cNvSpPr/>
          <p:nvPr/>
        </p:nvSpPr>
        <p:spPr>
          <a:xfrm>
            <a:off x="1021250" y="3328870"/>
            <a:ext cx="32332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D0"/>
                </a:solidFill>
                <a:latin typeface="Public Sans" pitchFamily="34" charset="0"/>
                <a:ea typeface="Public Sans" pitchFamily="34" charset="-122"/>
                <a:cs typeface="Public Sans" pitchFamily="34" charset="-120"/>
              </a:rPr>
              <a:t>ADQUISICIÓN</a:t>
            </a:r>
            <a:endParaRPr lang="en-US" sz="1200" dirty="0"/>
          </a:p>
        </p:txBody>
      </p:sp>
      <p:sp>
        <p:nvSpPr>
          <p:cNvPr id="9" name="Text 7"/>
          <p:cNvSpPr/>
          <p:nvPr/>
        </p:nvSpPr>
        <p:spPr>
          <a:xfrm>
            <a:off x="1021250" y="3592959"/>
            <a:ext cx="3233204" cy="539684"/>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Public Sans" pitchFamily="34" charset="0"/>
                <a:ea typeface="Public Sans" pitchFamily="34" charset="-122"/>
                <a:cs typeface="Public Sans" pitchFamily="34" charset="-120"/>
              </a:rPr>
              <a:t>CSV asignado por el curso · 21 columnas</a:t>
            </a:r>
            <a:endParaRPr lang="en-US" sz="1500" dirty="0"/>
          </a:p>
        </p:txBody>
      </p:sp>
      <p:sp>
        <p:nvSpPr>
          <p:cNvPr id="10" name="Shape 8"/>
          <p:cNvSpPr/>
          <p:nvPr/>
        </p:nvSpPr>
        <p:spPr>
          <a:xfrm>
            <a:off x="815942" y="4445856"/>
            <a:ext cx="3549650" cy="880996"/>
          </a:xfrm>
          <a:prstGeom prst="roundRect">
            <a:avLst>
              <a:gd name="adj" fmla="val 11172"/>
            </a:avLst>
          </a:prstGeom>
          <a:solidFill>
            <a:srgbClr val="FFFDF9"/>
          </a:solidFill>
          <a:ln w="6350">
            <a:solidFill>
              <a:srgbClr val="E4E1DA"/>
            </a:solidFill>
            <a:prstDash val="solid"/>
          </a:ln>
        </p:spPr>
      </p:sp>
      <p:sp>
        <p:nvSpPr>
          <p:cNvPr id="11" name="Text 9"/>
          <p:cNvSpPr/>
          <p:nvPr/>
        </p:nvSpPr>
        <p:spPr>
          <a:xfrm>
            <a:off x="1021250" y="4625739"/>
            <a:ext cx="32332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D0"/>
                </a:solidFill>
                <a:latin typeface="Public Sans" pitchFamily="34" charset="0"/>
                <a:ea typeface="Public Sans" pitchFamily="34" charset="-122"/>
                <a:cs typeface="Public Sans" pitchFamily="34" charset="-120"/>
              </a:rPr>
              <a:t>RESULTADO</a:t>
            </a:r>
            <a:endParaRPr lang="en-US" sz="1200" dirty="0"/>
          </a:p>
        </p:txBody>
      </p:sp>
      <p:sp>
        <p:nvSpPr>
          <p:cNvPr id="12" name="Text 10"/>
          <p:cNvSpPr/>
          <p:nvPr/>
        </p:nvSpPr>
        <p:spPr>
          <a:xfrm>
            <a:off x="1021250" y="4889829"/>
            <a:ext cx="3233204" cy="282542"/>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Public Sans" pitchFamily="34" charset="0"/>
                <a:ea typeface="Public Sans" pitchFamily="34" charset="-122"/>
                <a:cs typeface="Public Sans" pitchFamily="34" charset="-120"/>
              </a:rPr>
              <a:t>120 921 tiros limpios (94.4 %)</a:t>
            </a:r>
            <a:endParaRPr lang="en-US" sz="1500" dirty="0"/>
          </a:p>
        </p:txBody>
      </p:sp>
      <p:sp>
        <p:nvSpPr>
          <p:cNvPr id="13" name="Shape 11"/>
          <p:cNvSpPr/>
          <p:nvPr/>
        </p:nvSpPr>
        <p:spPr>
          <a:xfrm>
            <a:off x="4724342" y="2255986"/>
            <a:ext cx="6654891" cy="2667000"/>
          </a:xfrm>
          <a:prstGeom prst="roundRect">
            <a:avLst>
              <a:gd name="adj" fmla="val 3810"/>
            </a:avLst>
          </a:prstGeom>
          <a:solidFill>
            <a:srgbClr val="FFFDF9"/>
          </a:solidFill>
          <a:ln/>
        </p:spPr>
      </p:sp>
      <p:pic>
        <p:nvPicPr>
          <p:cNvPr id="14" name="Image 0" descr="Embudo de limpieza: 128 069, 122 502, 122 203 y 120 921 filas">    </p:cNvPr>
          <p:cNvPicPr>
            <a:picLocks noChangeAspect="1"/>
          </p:cNvPicPr>
          <p:nvPr/>
        </p:nvPicPr>
        <p:blipFill>
          <a:blip r:embed="rId1"/>
          <a:stretch>
            <a:fillRect/>
          </a:stretch>
        </p:blipFill>
        <p:spPr>
          <a:xfrm>
            <a:off x="4730692" y="2288918"/>
            <a:ext cx="6642191" cy="2601138"/>
          </a:xfrm>
          <a:custGeom>
            <a:avLst/>
            <a:gdLst/>
            <a:ahLst/>
            <a:cxnLst/>
            <a:rect l="l" t="t" r="r" b="b"/>
            <a:pathLst>
              <a:path w="6642191" h="2601138">
                <a:moveTo>
                  <a:pt x="0" y="68669"/>
                </a:moveTo>
                <a:arcTo wR="95250" hR="95250" stAng="10800000" swAng="2767891"/>
                <a:lnTo>
                  <a:pt x="6612949" y="0"/>
                </a:lnTo>
                <a:arcTo wR="95250" hR="95250" stAng="18832109" swAng="2767891"/>
                <a:lnTo>
                  <a:pt x="6642191" y="2532469"/>
                </a:lnTo>
                <a:arcTo wR="95250" hR="95250" stAng="0" swAng="2767891"/>
                <a:lnTo>
                  <a:pt x="29241" y="2601138"/>
                </a:lnTo>
                <a:arcTo wR="95250" hR="95250" stAng="8032109" swAng="2767891"/>
                <a:close/>
              </a:path>
            </a:pathLst>
          </a:custGeom>
        </p:spPr>
      </p:pic>
      <p:sp>
        <p:nvSpPr>
          <p:cNvPr id="15" name="Shape 12"/>
          <p:cNvSpPr/>
          <p:nvPr/>
        </p:nvSpPr>
        <p:spPr>
          <a:xfrm>
            <a:off x="4727517" y="2259161"/>
            <a:ext cx="6648541" cy="2660650"/>
          </a:xfrm>
          <a:prstGeom prst="roundRect">
            <a:avLst>
              <a:gd name="adj" fmla="val 3699"/>
            </a:avLst>
          </a:prstGeom>
          <a:noFill/>
          <a:ln w="6350">
            <a:solidFill>
              <a:srgbClr val="E4E1DA"/>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DATOS · VECTORIZACIÓN Y ESCALAMIENTO</a:t>
            </a:r>
            <a:endParaRPr lang="en-US" sz="1200" dirty="0"/>
          </a:p>
        </p:txBody>
      </p:sp>
      <p:sp>
        <p:nvSpPr>
          <p:cNvPr id="3" name="Text 1"/>
          <p:cNvSpPr/>
          <p:nvPr>
            <p:ph type="title"/>
          </p:nvPr>
        </p:nvSpPr>
        <p:spPr>
          <a:xfrm>
            <a:off x="812767" y="1076852"/>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Solo lo que se sabe antes del tiro</a:t>
            </a:r>
            <a:endParaRPr lang="en-US" sz="3200" dirty="0"/>
          </a:p>
        </p:txBody>
      </p:sp>
      <p:sp>
        <p:nvSpPr>
          <p:cNvPr id="4" name="Shape 2"/>
          <p:cNvSpPr/>
          <p:nvPr/>
        </p:nvSpPr>
        <p:spPr>
          <a:xfrm>
            <a:off x="815942" y="1801347"/>
            <a:ext cx="5175266" cy="1385896"/>
          </a:xfrm>
          <a:prstGeom prst="roundRect">
            <a:avLst>
              <a:gd name="adj" fmla="val 7102"/>
            </a:avLst>
          </a:prstGeom>
          <a:solidFill>
            <a:srgbClr val="FFFDF9"/>
          </a:solidFill>
          <a:ln w="6350">
            <a:solidFill>
              <a:srgbClr val="E4E1DA"/>
            </a:solidFill>
            <a:prstDash val="solid"/>
          </a:ln>
        </p:spPr>
      </p:sp>
      <p:sp>
        <p:nvSpPr>
          <p:cNvPr id="5" name="Text 3"/>
          <p:cNvSpPr/>
          <p:nvPr/>
        </p:nvSpPr>
        <p:spPr>
          <a:xfrm>
            <a:off x="1072059" y="2006656"/>
            <a:ext cx="4802924" cy="330167"/>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Public Sans" pitchFamily="34" charset="0"/>
                <a:ea typeface="Public Sans" pitchFamily="34" charset="-122"/>
                <a:cs typeface="Public Sans" pitchFamily="34" charset="-120"/>
              </a:rPr>
              <a:t>Entran · d = 6</a:t>
            </a:r>
            <a:endParaRPr lang="en-US" sz="2000" dirty="0"/>
          </a:p>
        </p:txBody>
      </p:sp>
      <p:sp>
        <p:nvSpPr>
          <p:cNvPr id="6" name="Text 4"/>
          <p:cNvSpPr/>
          <p:nvPr/>
        </p:nvSpPr>
        <p:spPr>
          <a:xfrm>
            <a:off x="1072059" y="2413000"/>
            <a:ext cx="4802924" cy="594337"/>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4A5568"/>
                </a:solidFill>
                <a:latin typeface="Public Sans" pitchFamily="34" charset="0"/>
                <a:ea typeface="Public Sans" pitchFamily="34" charset="-122"/>
                <a:cs typeface="Public Sans" pitchFamily="34" charset="-120"/>
              </a:rPr>
              <a:t>SHOT_DIST · CLOSE_DEF_DIST · SHOT_CLOCK · DRIBBLES · TOUCH_TIME · PERIOD</a:t>
            </a:r>
            <a:endParaRPr lang="en-US" sz="1400" dirty="0"/>
          </a:p>
        </p:txBody>
      </p:sp>
      <p:sp>
        <p:nvSpPr>
          <p:cNvPr id="7" name="Shape 5"/>
          <p:cNvSpPr/>
          <p:nvPr/>
        </p:nvSpPr>
        <p:spPr>
          <a:xfrm>
            <a:off x="6200750" y="1801347"/>
            <a:ext cx="5175308" cy="1385896"/>
          </a:xfrm>
          <a:prstGeom prst="roundRect">
            <a:avLst>
              <a:gd name="adj" fmla="val 7102"/>
            </a:avLst>
          </a:prstGeom>
          <a:solidFill>
            <a:srgbClr val="FFFDF9"/>
          </a:solidFill>
          <a:ln w="6350">
            <a:solidFill>
              <a:srgbClr val="E4E1DA"/>
            </a:solidFill>
            <a:prstDash val="solid"/>
          </a:ln>
        </p:spPr>
      </p:sp>
      <p:sp>
        <p:nvSpPr>
          <p:cNvPr id="8" name="Text 6"/>
          <p:cNvSpPr/>
          <p:nvPr/>
        </p:nvSpPr>
        <p:spPr>
          <a:xfrm>
            <a:off x="6456867" y="2006656"/>
            <a:ext cx="4802967" cy="330167"/>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Public Sans" pitchFamily="34" charset="0"/>
                <a:ea typeface="Public Sans" pitchFamily="34" charset="-122"/>
                <a:cs typeface="Public Sans" pitchFamily="34" charset="-120"/>
              </a:rPr>
              <a:t>Se excluyen · fuga de información</a:t>
            </a:r>
            <a:endParaRPr lang="en-US" sz="2000" dirty="0"/>
          </a:p>
        </p:txBody>
      </p:sp>
      <p:sp>
        <p:nvSpPr>
          <p:cNvPr id="9" name="Text 7"/>
          <p:cNvSpPr/>
          <p:nvPr/>
        </p:nvSpPr>
        <p:spPr>
          <a:xfrm>
            <a:off x="6456867" y="2413000"/>
            <a:ext cx="4802967" cy="594337"/>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4A5568"/>
                </a:solidFill>
                <a:latin typeface="Public Sans" pitchFamily="34" charset="0"/>
                <a:ea typeface="Public Sans" pitchFamily="34" charset="-122"/>
                <a:cs typeface="Public Sans" pitchFamily="34" charset="-120"/>
              </a:rPr>
              <a:t>SHOT_RESULT y PTS revelan la etiqueta · W y FINAL_MARGIN son posteriores · identificadores</a:t>
            </a:r>
            <a:endParaRPr lang="en-US" sz="1400" dirty="0"/>
          </a:p>
        </p:txBody>
      </p:sp>
      <p:sp>
        <p:nvSpPr>
          <p:cNvPr id="10" name="Shape 8"/>
          <p:cNvSpPr/>
          <p:nvPr/>
        </p:nvSpPr>
        <p:spPr>
          <a:xfrm>
            <a:off x="812767" y="3444416"/>
            <a:ext cx="10566466" cy="939767"/>
          </a:xfrm>
          <a:prstGeom prst="roundRect">
            <a:avLst>
              <a:gd name="adj" fmla="val 10811"/>
            </a:avLst>
          </a:prstGeom>
          <a:solidFill>
            <a:srgbClr val="14213D"/>
          </a:solidFill>
          <a:ln/>
        </p:spPr>
      </p:sp>
      <p:sp>
        <p:nvSpPr>
          <p:cNvPr id="11" name="Text 9"/>
          <p:cNvSpPr/>
          <p:nvPr/>
        </p:nvSpPr>
        <p:spPr>
          <a:xfrm>
            <a:off x="1117534" y="3665389"/>
            <a:ext cx="1356643" cy="523230"/>
          </a:xfrm>
          <a:prstGeom prst="rect">
            <a:avLst/>
          </a:prstGeom>
          <a:noFill/>
          <a:ln/>
        </p:spPr>
        <p:txBody>
          <a:bodyPr wrap="none" lIns="0" tIns="0" rIns="0" bIns="0" rtlCol="0" anchor="t">
            <a:normAutofit/>
          </a:bodyPr>
          <a:lstStyle/>
          <a:p>
            <a:pPr algn="l" indent="0" marL="0">
              <a:lnSpc>
                <a:spcPts val="3920"/>
              </a:lnSpc>
              <a:buNone/>
            </a:pPr>
            <a:r>
              <a:rPr lang="en-US" sz="2800" dirty="0">
                <a:solidFill>
                  <a:srgbClr val="F7F5F0"/>
                </a:solidFill>
                <a:latin typeface="Oswald" pitchFamily="34" charset="0"/>
                <a:ea typeface="Oswald" pitchFamily="34" charset="-122"/>
                <a:cs typeface="Oswald" pitchFamily="34" charset="-120"/>
              </a:rPr>
              <a:t>z = (x − μ) / σ</a:t>
            </a:r>
            <a:endParaRPr lang="en-US" sz="2800" dirty="0"/>
          </a:p>
        </p:txBody>
      </p:sp>
      <p:sp>
        <p:nvSpPr>
          <p:cNvPr id="12" name="Text 10"/>
          <p:cNvSpPr/>
          <p:nvPr/>
        </p:nvSpPr>
        <p:spPr>
          <a:xfrm>
            <a:off x="2728144" y="3647610"/>
            <a:ext cx="8596712" cy="558783"/>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3E3"/>
                </a:solidFill>
                <a:latin typeface="Public Sans" pitchFamily="34" charset="0"/>
                <a:ea typeface="Public Sans" pitchFamily="34" charset="-122"/>
                <a:cs typeface="Public Sans" pitchFamily="34" charset="-120"/>
              </a:rPr>
              <a:t>El kernel RBF usa distancias: sin estandarizar, la distancia al aro (0–47 ft) aplastaría al periodo (1–7). μ y σ salen del entrenamiento.</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DATOS · POR QUÉ HACE FALTA UNA CURVA</a:t>
            </a:r>
            <a:endParaRPr lang="en-US" sz="1200" dirty="0"/>
          </a:p>
        </p:txBody>
      </p:sp>
      <p:sp>
        <p:nvSpPr>
          <p:cNvPr id="3" name="Text 1"/>
          <p:cNvSpPr/>
          <p:nvPr>
            <p:ph type="title"/>
          </p:nvPr>
        </p:nvSpPr>
        <p:spPr>
          <a:xfrm>
            <a:off x="812767" y="1076852"/>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El defensor importa… según la distancia</a:t>
            </a:r>
            <a:endParaRPr lang="en-US" sz="3200" dirty="0"/>
          </a:p>
        </p:txBody>
      </p:sp>
      <p:sp>
        <p:nvSpPr>
          <p:cNvPr id="4" name="Shape 2"/>
          <p:cNvSpPr/>
          <p:nvPr/>
        </p:nvSpPr>
        <p:spPr>
          <a:xfrm>
            <a:off x="812767" y="1772748"/>
            <a:ext cx="10566383" cy="4064000"/>
          </a:xfrm>
          <a:prstGeom prst="roundRect">
            <a:avLst>
              <a:gd name="adj" fmla="val 2500"/>
            </a:avLst>
          </a:prstGeom>
          <a:solidFill>
            <a:srgbClr val="FFFDF9"/>
          </a:solidFill>
          <a:ln/>
        </p:spPr>
      </p:sp>
      <p:pic>
        <p:nvPicPr>
          <p:cNvPr id="5" name="Image 0" descr="Mapa de calor del porcentaje de acierto por distancia al aro y distancia del defensor, junto a barras del acierto según solo el defensor">    </p:cNvPr>
          <p:cNvPicPr>
            <a:picLocks noChangeAspect="1"/>
          </p:cNvPicPr>
          <p:nvPr/>
        </p:nvPicPr>
        <p:blipFill>
          <a:blip r:embed="rId1"/>
          <a:stretch>
            <a:fillRect/>
          </a:stretch>
        </p:blipFill>
        <p:spPr>
          <a:xfrm>
            <a:off x="1668210" y="1779098"/>
            <a:ext cx="8855496" cy="4051300"/>
          </a:xfrm>
          <a:prstGeom prst="rect">
            <a:avLst/>
          </a:prstGeom>
        </p:spPr>
      </p:pic>
      <p:sp>
        <p:nvSpPr>
          <p:cNvPr id="6" name="Shape 3"/>
          <p:cNvSpPr/>
          <p:nvPr/>
        </p:nvSpPr>
        <p:spPr>
          <a:xfrm>
            <a:off x="815942" y="1775923"/>
            <a:ext cx="10560033" cy="4057650"/>
          </a:xfrm>
          <a:prstGeom prst="roundRect">
            <a:avLst>
              <a:gd name="adj" fmla="val 2426"/>
            </a:avLst>
          </a:prstGeom>
          <a:noFill/>
          <a:ln w="6350">
            <a:solidFill>
              <a:srgbClr val="E4E1DA"/>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RESULTADOS · BÚSQUEDA DE HIPERPARÁMETROS</a:t>
            </a:r>
            <a:endParaRPr lang="en-US" sz="1200" dirty="0"/>
          </a:p>
        </p:txBody>
      </p:sp>
      <p:sp>
        <p:nvSpPr>
          <p:cNvPr id="3" name="Text 1"/>
          <p:cNvSpPr/>
          <p:nvPr>
            <p:ph type="title"/>
          </p:nvPr>
        </p:nvSpPr>
        <p:spPr>
          <a:xfrm>
            <a:off x="812767" y="1076852"/>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GridSearchCV: 24 combinaciones × 5 folds</a:t>
            </a:r>
            <a:endParaRPr lang="en-US" sz="3200" dirty="0"/>
          </a:p>
        </p:txBody>
      </p:sp>
      <p:sp>
        <p:nvSpPr>
          <p:cNvPr id="4" name="Text 2"/>
          <p:cNvSpPr/>
          <p:nvPr/>
        </p:nvSpPr>
        <p:spPr>
          <a:xfrm>
            <a:off x="815942" y="1750541"/>
            <a:ext cx="2025650" cy="395321"/>
          </a:xfrm>
          <a:prstGeom prst="roundRect">
            <a:avLst>
              <a:gd name="adj" fmla="val 50000"/>
            </a:avLst>
          </a:prstGeom>
          <a:solidFill>
            <a:srgbClr val="FFFDF9"/>
          </a:solidFill>
          <a:ln w="6350">
            <a:solidFill>
              <a:srgbClr val="E4E1DA"/>
            </a:solidFill>
            <a:prstDash val="solid"/>
          </a:ln>
        </p:spPr>
        <p:txBody>
          <a:bodyPr wrap="square" lIns="44713" tIns="33124" rIns="44713" bIns="7724" rtlCol="0" anchor="t">
            <a:normAutofit/>
          </a:bodyPr>
          <a:lstStyle/>
          <a:p>
            <a:pPr algn="ctr" indent="0" marL="0">
              <a:lnSpc>
                <a:spcPts val="1680"/>
              </a:lnSpc>
              <a:buNone/>
            </a:pPr>
            <a:r>
              <a:rPr lang="en-US" sz="1200" b="1" dirty="0">
                <a:solidFill>
                  <a:srgbClr val="14213D"/>
                </a:solidFill>
                <a:latin typeface="Public Sans" pitchFamily="34" charset="0"/>
                <a:ea typeface="Public Sans" pitchFamily="34" charset="-122"/>
                <a:cs typeface="Public Sans" pitchFamily="34" charset="-120"/>
              </a:rPr>
              <a:t>Grilla logarítmica</a:t>
            </a:r>
            <a:endParaRPr lang="en-US" sz="1200" dirty="0"/>
          </a:p>
        </p:txBody>
      </p:sp>
      <p:sp>
        <p:nvSpPr>
          <p:cNvPr id="5" name="Text 3"/>
          <p:cNvSpPr/>
          <p:nvPr/>
        </p:nvSpPr>
        <p:spPr>
          <a:xfrm>
            <a:off x="2949517" y="1750541"/>
            <a:ext cx="2025691" cy="395321"/>
          </a:xfrm>
          <a:prstGeom prst="roundRect">
            <a:avLst>
              <a:gd name="adj" fmla="val 50000"/>
            </a:avLst>
          </a:prstGeom>
          <a:solidFill>
            <a:srgbClr val="FFFDF9"/>
          </a:solidFill>
          <a:ln w="6350">
            <a:solidFill>
              <a:srgbClr val="E4E1DA"/>
            </a:solidFill>
            <a:prstDash val="solid"/>
          </a:ln>
        </p:spPr>
        <p:txBody>
          <a:bodyPr wrap="square" lIns="44712" tIns="33124" rIns="44712" bIns="7724" rtlCol="0" anchor="t">
            <a:normAutofit/>
          </a:bodyPr>
          <a:lstStyle/>
          <a:p>
            <a:pPr algn="ctr" indent="0" marL="0">
              <a:lnSpc>
                <a:spcPts val="1680"/>
              </a:lnSpc>
              <a:buNone/>
            </a:pPr>
            <a:r>
              <a:rPr lang="en-US" sz="1200" b="1" dirty="0">
                <a:solidFill>
                  <a:srgbClr val="14213D"/>
                </a:solidFill>
                <a:latin typeface="Public Sans" pitchFamily="34" charset="0"/>
                <a:ea typeface="Public Sans" pitchFamily="34" charset="-122"/>
                <a:cs typeface="Public Sans" pitchFamily="34" charset="-120"/>
              </a:rPr>
              <a:t>C y γ juntos</a:t>
            </a:r>
            <a:endParaRPr lang="en-US" sz="1200" dirty="0"/>
          </a:p>
        </p:txBody>
      </p:sp>
      <p:sp>
        <p:nvSpPr>
          <p:cNvPr id="6" name="Text 4"/>
          <p:cNvSpPr/>
          <p:nvPr/>
        </p:nvSpPr>
        <p:spPr>
          <a:xfrm>
            <a:off x="5083134" y="1750541"/>
            <a:ext cx="2025691" cy="395321"/>
          </a:xfrm>
          <a:prstGeom prst="roundRect">
            <a:avLst>
              <a:gd name="adj" fmla="val 50000"/>
            </a:avLst>
          </a:prstGeom>
          <a:solidFill>
            <a:srgbClr val="FFFDF9"/>
          </a:solidFill>
          <a:ln w="6350">
            <a:solidFill>
              <a:srgbClr val="E4E1DA"/>
            </a:solidFill>
            <a:prstDash val="solid"/>
          </a:ln>
        </p:spPr>
        <p:txBody>
          <a:bodyPr wrap="square" lIns="44712" tIns="33124" rIns="44712" bIns="7724" rtlCol="0" anchor="t">
            <a:normAutofit/>
          </a:bodyPr>
          <a:lstStyle/>
          <a:p>
            <a:pPr algn="ctr" indent="0" marL="0">
              <a:lnSpc>
                <a:spcPts val="1680"/>
              </a:lnSpc>
              <a:buNone/>
            </a:pPr>
            <a:r>
              <a:rPr lang="en-US" sz="1200" b="1" dirty="0">
                <a:solidFill>
                  <a:srgbClr val="14213D"/>
                </a:solidFill>
                <a:latin typeface="Public Sans" pitchFamily="34" charset="0"/>
                <a:ea typeface="Public Sans" pitchFamily="34" charset="-122"/>
                <a:cs typeface="Public Sans" pitchFamily="34" charset="-120"/>
              </a:rPr>
              <a:t>5-fold estratificado</a:t>
            </a:r>
            <a:endParaRPr lang="en-US" sz="1200" dirty="0"/>
          </a:p>
        </p:txBody>
      </p:sp>
      <p:sp>
        <p:nvSpPr>
          <p:cNvPr id="7" name="Text 5"/>
          <p:cNvSpPr/>
          <p:nvPr/>
        </p:nvSpPr>
        <p:spPr>
          <a:xfrm>
            <a:off x="7216750" y="1750541"/>
            <a:ext cx="2025691" cy="395321"/>
          </a:xfrm>
          <a:prstGeom prst="roundRect">
            <a:avLst>
              <a:gd name="adj" fmla="val 50000"/>
            </a:avLst>
          </a:prstGeom>
          <a:solidFill>
            <a:srgbClr val="FFFDF9"/>
          </a:solidFill>
          <a:ln w="6350">
            <a:solidFill>
              <a:srgbClr val="E4E1DA"/>
            </a:solidFill>
            <a:prstDash val="solid"/>
          </a:ln>
        </p:spPr>
        <p:txBody>
          <a:bodyPr wrap="square" lIns="44712" tIns="33124" rIns="44712" bIns="7724" rtlCol="0" anchor="t">
            <a:normAutofit/>
          </a:bodyPr>
          <a:lstStyle/>
          <a:p>
            <a:pPr algn="ctr" indent="0" marL="0">
              <a:lnSpc>
                <a:spcPts val="1680"/>
              </a:lnSpc>
              <a:buNone/>
            </a:pPr>
            <a:r>
              <a:rPr lang="en-US" sz="1200" b="1" dirty="0">
                <a:solidFill>
                  <a:srgbClr val="14213D"/>
                </a:solidFill>
                <a:latin typeface="Public Sans" pitchFamily="34" charset="0"/>
                <a:ea typeface="Public Sans" pitchFamily="34" charset="-122"/>
                <a:cs typeface="Public Sans" pitchFamily="34" charset="-120"/>
              </a:rPr>
              <a:t>Elige por ROC-AUC</a:t>
            </a:r>
            <a:endParaRPr lang="en-US" sz="1200" dirty="0"/>
          </a:p>
        </p:txBody>
      </p:sp>
      <p:sp>
        <p:nvSpPr>
          <p:cNvPr id="8" name="Text 6"/>
          <p:cNvSpPr/>
          <p:nvPr/>
        </p:nvSpPr>
        <p:spPr>
          <a:xfrm>
            <a:off x="9350366" y="1750541"/>
            <a:ext cx="2025691" cy="395321"/>
          </a:xfrm>
          <a:prstGeom prst="roundRect">
            <a:avLst>
              <a:gd name="adj" fmla="val 50000"/>
            </a:avLst>
          </a:prstGeom>
          <a:solidFill>
            <a:srgbClr val="FFFDF9"/>
          </a:solidFill>
          <a:ln w="6350">
            <a:solidFill>
              <a:srgbClr val="E4E1DA"/>
            </a:solidFill>
            <a:prstDash val="solid"/>
          </a:ln>
        </p:spPr>
        <p:txBody>
          <a:bodyPr wrap="square" lIns="44712" tIns="33124" rIns="44712" bIns="7724" rtlCol="0" anchor="t">
            <a:normAutofit/>
          </a:bodyPr>
          <a:lstStyle/>
          <a:p>
            <a:pPr algn="ctr" indent="0" marL="0">
              <a:lnSpc>
                <a:spcPts val="1680"/>
              </a:lnSpc>
              <a:buNone/>
            </a:pPr>
            <a:r>
              <a:rPr lang="en-US" sz="1200" b="1" dirty="0">
                <a:solidFill>
                  <a:srgbClr val="14213D"/>
                </a:solidFill>
                <a:latin typeface="Public Sans" pitchFamily="34" charset="0"/>
                <a:ea typeface="Public Sans" pitchFamily="34" charset="-122"/>
                <a:cs typeface="Public Sans" pitchFamily="34" charset="-120"/>
              </a:rPr>
              <a:t>Train vs CV</a:t>
            </a:r>
            <a:endParaRPr lang="en-US" sz="1200" dirty="0"/>
          </a:p>
        </p:txBody>
      </p:sp>
      <p:sp>
        <p:nvSpPr>
          <p:cNvPr id="9" name="Shape 7"/>
          <p:cNvSpPr/>
          <p:nvPr/>
        </p:nvSpPr>
        <p:spPr>
          <a:xfrm>
            <a:off x="812767" y="2352229"/>
            <a:ext cx="10566383" cy="3429000"/>
          </a:xfrm>
          <a:prstGeom prst="roundRect">
            <a:avLst>
              <a:gd name="adj" fmla="val 2963"/>
            </a:avLst>
          </a:prstGeom>
          <a:solidFill>
            <a:srgbClr val="FFFDF9"/>
          </a:solidFill>
          <a:ln/>
        </p:spPr>
      </p:sp>
      <p:pic>
        <p:nvPicPr>
          <p:cNvPr id="10" name="Image 0" descr="Mapas de calor del ROC-AUC en validación cruzada y del sobreajuste para cada combinación de C y gamma; el mejor es C=10, gamma=0.01">    </p:cNvPr>
          <p:cNvPicPr>
            <a:picLocks noChangeAspect="1"/>
          </p:cNvPicPr>
          <p:nvPr/>
        </p:nvPicPr>
        <p:blipFill>
          <a:blip r:embed="rId1"/>
          <a:stretch>
            <a:fillRect/>
          </a:stretch>
        </p:blipFill>
        <p:spPr>
          <a:xfrm>
            <a:off x="1865308" y="2358579"/>
            <a:ext cx="8461301" cy="3416300"/>
          </a:xfrm>
          <a:prstGeom prst="rect">
            <a:avLst/>
          </a:prstGeom>
        </p:spPr>
      </p:pic>
      <p:sp>
        <p:nvSpPr>
          <p:cNvPr id="11" name="Shape 8"/>
          <p:cNvSpPr/>
          <p:nvPr/>
        </p:nvSpPr>
        <p:spPr>
          <a:xfrm>
            <a:off x="815942" y="2355404"/>
            <a:ext cx="10560033" cy="3422650"/>
          </a:xfrm>
          <a:prstGeom prst="roundRect">
            <a:avLst>
              <a:gd name="adj" fmla="val 2876"/>
            </a:avLst>
          </a:prstGeom>
          <a:noFill/>
          <a:ln w="6350">
            <a:solidFill>
              <a:srgbClr val="E4E1DA"/>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RESULTADOS · TEST DE 5 000 TIROS</a:t>
            </a:r>
            <a:endParaRPr lang="en-US" sz="1200" dirty="0"/>
          </a:p>
        </p:txBody>
      </p:sp>
      <p:sp>
        <p:nvSpPr>
          <p:cNvPr id="3" name="Text 1"/>
          <p:cNvSpPr/>
          <p:nvPr>
            <p:ph type="title"/>
          </p:nvPr>
        </p:nvSpPr>
        <p:spPr>
          <a:xfrm>
            <a:off x="812767" y="1076852"/>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Las dos SVM superan al baseline</a:t>
            </a:r>
            <a:endParaRPr lang="en-US" sz="3200" dirty="0"/>
          </a:p>
        </p:txBody>
      </p:sp>
      <p:sp>
        <p:nvSpPr>
          <p:cNvPr id="4" name="Shape 2"/>
          <p:cNvSpPr/>
          <p:nvPr/>
        </p:nvSpPr>
        <p:spPr>
          <a:xfrm>
            <a:off x="812767" y="1798172"/>
            <a:ext cx="6604000" cy="3905250"/>
          </a:xfrm>
          <a:prstGeom prst="roundRect">
            <a:avLst>
              <a:gd name="adj" fmla="val 2602"/>
            </a:avLst>
          </a:prstGeom>
          <a:solidFill>
            <a:srgbClr val="FFFDF9"/>
          </a:solidFill>
          <a:ln/>
        </p:spPr>
      </p:sp>
      <p:pic>
        <p:nvPicPr>
          <p:cNvPr id="5" name="Image 0" descr="Barras de accuracy, F1 y ROC-AUC para baseline, SVM lineal y SVM RBF">    </p:cNvPr>
          <p:cNvPicPr>
            <a:picLocks noChangeAspect="1"/>
          </p:cNvPicPr>
          <p:nvPr/>
        </p:nvPicPr>
        <p:blipFill>
          <a:blip r:embed="rId1"/>
          <a:srcRect l="-61" r="-61" t="0" b="0"/>
          <a:stretch/>
        </p:blipFill>
        <p:spPr>
          <a:xfrm>
            <a:off x="819117" y="1804522"/>
            <a:ext cx="6591300" cy="3892550"/>
          </a:xfrm>
          <a:prstGeom prst="roundRect">
            <a:avLst>
              <a:gd name="adj" fmla="val 2447"/>
            </a:avLst>
          </a:prstGeom>
        </p:spPr>
      </p:pic>
      <p:sp>
        <p:nvSpPr>
          <p:cNvPr id="6" name="Shape 3"/>
          <p:cNvSpPr/>
          <p:nvPr/>
        </p:nvSpPr>
        <p:spPr>
          <a:xfrm>
            <a:off x="815942" y="1801347"/>
            <a:ext cx="6597650" cy="3898900"/>
          </a:xfrm>
          <a:prstGeom prst="roundRect">
            <a:avLst>
              <a:gd name="adj" fmla="val 2524"/>
            </a:avLst>
          </a:prstGeom>
          <a:noFill/>
          <a:ln w="6350">
            <a:solidFill>
              <a:srgbClr val="E4E1DA"/>
            </a:solidFill>
            <a:prstDash val="solid"/>
          </a:ln>
        </p:spPr>
      </p:sp>
      <p:sp>
        <p:nvSpPr>
          <p:cNvPr id="7" name="Text 4"/>
          <p:cNvSpPr/>
          <p:nvPr/>
        </p:nvSpPr>
        <p:spPr>
          <a:xfrm>
            <a:off x="7772342" y="2106247"/>
            <a:ext cx="3715097" cy="612114"/>
          </a:xfrm>
          <a:prstGeom prst="rect">
            <a:avLst/>
          </a:prstGeom>
          <a:noFill/>
          <a:ln/>
        </p:spPr>
        <p:txBody>
          <a:bodyPr wrap="square" lIns="0" tIns="0" rIns="0" bIns="0" rtlCol="0" anchor="t">
            <a:normAutofit/>
          </a:bodyPr>
          <a:lstStyle/>
          <a:p>
            <a:pPr algn="l" indent="0" marL="0">
              <a:lnSpc>
                <a:spcPts val="4620"/>
              </a:lnSpc>
              <a:buNone/>
            </a:pPr>
            <a:r>
              <a:rPr lang="en-US" sz="4400" dirty="0">
                <a:solidFill>
                  <a:srgbClr val="B8461B"/>
                </a:solidFill>
                <a:latin typeface="Oswald" pitchFamily="34" charset="0"/>
                <a:ea typeface="Oswald" pitchFamily="34" charset="-122"/>
                <a:cs typeface="Oswald" pitchFamily="34" charset="-120"/>
              </a:rPr>
              <a:t>61.8 %</a:t>
            </a:r>
            <a:endParaRPr lang="en-US" sz="4400" dirty="0"/>
          </a:p>
        </p:txBody>
      </p:sp>
      <p:sp>
        <p:nvSpPr>
          <p:cNvPr id="8" name="Text 5"/>
          <p:cNvSpPr/>
          <p:nvPr/>
        </p:nvSpPr>
        <p:spPr>
          <a:xfrm>
            <a:off x="7772342" y="2718346"/>
            <a:ext cx="3715097"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accuracy RBF (+7.6 puntos sobre el baseline)</a:t>
            </a:r>
            <a:endParaRPr lang="en-US" sz="1400" dirty="0"/>
          </a:p>
        </p:txBody>
      </p:sp>
      <p:sp>
        <p:nvSpPr>
          <p:cNvPr id="9" name="Text 6"/>
          <p:cNvSpPr/>
          <p:nvPr/>
        </p:nvSpPr>
        <p:spPr>
          <a:xfrm>
            <a:off x="7772342" y="3444751"/>
            <a:ext cx="3715097" cy="612114"/>
          </a:xfrm>
          <a:prstGeom prst="rect">
            <a:avLst/>
          </a:prstGeom>
          <a:noFill/>
          <a:ln/>
        </p:spPr>
        <p:txBody>
          <a:bodyPr wrap="square" lIns="0" tIns="0" rIns="0" bIns="0" rtlCol="0" anchor="t">
            <a:normAutofit/>
          </a:bodyPr>
          <a:lstStyle/>
          <a:p>
            <a:pPr algn="l" indent="0" marL="0">
              <a:lnSpc>
                <a:spcPts val="4620"/>
              </a:lnSpc>
              <a:buNone/>
            </a:pPr>
            <a:r>
              <a:rPr lang="en-US" sz="4400" dirty="0">
                <a:solidFill>
                  <a:srgbClr val="2F6FD0"/>
                </a:solidFill>
                <a:latin typeface="Oswald" pitchFamily="34" charset="0"/>
                <a:ea typeface="Oswald" pitchFamily="34" charset="-122"/>
                <a:cs typeface="Oswald" pitchFamily="34" charset="-120"/>
              </a:rPr>
              <a:t>0.535</a:t>
            </a:r>
            <a:endParaRPr lang="en-US" sz="4400" dirty="0"/>
          </a:p>
        </p:txBody>
      </p:sp>
      <p:sp>
        <p:nvSpPr>
          <p:cNvPr id="10" name="Text 7"/>
          <p:cNvSpPr/>
          <p:nvPr/>
        </p:nvSpPr>
        <p:spPr>
          <a:xfrm>
            <a:off x="7772342" y="4056844"/>
            <a:ext cx="3715097"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F1 lineal (RBF: 0.466)</a:t>
            </a:r>
            <a:endParaRPr lang="en-US" sz="1400" dirty="0"/>
          </a:p>
        </p:txBody>
      </p:sp>
      <p:sp>
        <p:nvSpPr>
          <p:cNvPr id="11" name="Text 8"/>
          <p:cNvSpPr/>
          <p:nvPr/>
        </p:nvSpPr>
        <p:spPr>
          <a:xfrm>
            <a:off x="7772342" y="4534334"/>
            <a:ext cx="3715097" cy="612114"/>
          </a:xfrm>
          <a:prstGeom prst="rect">
            <a:avLst/>
          </a:prstGeom>
          <a:noFill/>
          <a:ln/>
        </p:spPr>
        <p:txBody>
          <a:bodyPr wrap="square" lIns="0" tIns="0" rIns="0" bIns="0" rtlCol="0" anchor="t">
            <a:normAutofit/>
          </a:bodyPr>
          <a:lstStyle/>
          <a:p>
            <a:pPr algn="l" indent="0" marL="0">
              <a:lnSpc>
                <a:spcPts val="4620"/>
              </a:lnSpc>
              <a:buNone/>
            </a:pPr>
            <a:r>
              <a:rPr lang="en-US" sz="4400" dirty="0">
                <a:solidFill>
                  <a:srgbClr val="14213D"/>
                </a:solidFill>
                <a:latin typeface="Oswald" pitchFamily="34" charset="0"/>
                <a:ea typeface="Oswald" pitchFamily="34" charset="-122"/>
                <a:cs typeface="Oswald" pitchFamily="34" charset="-120"/>
              </a:rPr>
              <a:t>≈ 0.63</a:t>
            </a:r>
            <a:endParaRPr lang="en-US" sz="4400" dirty="0"/>
          </a:p>
        </p:txBody>
      </p:sp>
      <p:sp>
        <p:nvSpPr>
          <p:cNvPr id="12" name="Text 9"/>
          <p:cNvSpPr/>
          <p:nvPr/>
        </p:nvSpPr>
        <p:spPr>
          <a:xfrm>
            <a:off x="7772342" y="5146433"/>
            <a:ext cx="3715097"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ROC-AUC de ambas (azar: 0.5)</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RESULTADOS · MATRIZ DE CONFUSIÓN Y ROC</a:t>
            </a:r>
            <a:endParaRPr lang="en-US" sz="1200" dirty="0"/>
          </a:p>
        </p:txBody>
      </p:sp>
      <p:sp>
        <p:nvSpPr>
          <p:cNvPr id="3" name="Text 1"/>
          <p:cNvSpPr/>
          <p:nvPr>
            <p:ph type="title"/>
          </p:nvPr>
        </p:nvSpPr>
        <p:spPr>
          <a:xfrm>
            <a:off x="812767" y="1076852"/>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Dónde acierta y dónde se equivoca cada modelo</a:t>
            </a:r>
            <a:endParaRPr lang="en-US" sz="3200" dirty="0"/>
          </a:p>
        </p:txBody>
      </p:sp>
      <p:sp>
        <p:nvSpPr>
          <p:cNvPr id="4" name="Shape 2"/>
          <p:cNvSpPr/>
          <p:nvPr/>
        </p:nvSpPr>
        <p:spPr>
          <a:xfrm>
            <a:off x="812767" y="1798172"/>
            <a:ext cx="6858000" cy="3302000"/>
          </a:xfrm>
          <a:prstGeom prst="roundRect">
            <a:avLst>
              <a:gd name="adj" fmla="val 3077"/>
            </a:avLst>
          </a:prstGeom>
          <a:solidFill>
            <a:srgbClr val="FFFDF9"/>
          </a:solidFill>
          <a:ln/>
        </p:spPr>
      </p:sp>
      <p:pic>
        <p:nvPicPr>
          <p:cNvPr id="5" name="Image 0" descr="Matrices de confusión: lineal VN 1784, FP 928, FN 1115, VP 1173; RBF VN 2260, FP 452, FN 1456, VP 832">    </p:cNvPr>
          <p:cNvPicPr>
            <a:picLocks noChangeAspect="1"/>
          </p:cNvPicPr>
          <p:nvPr/>
        </p:nvPicPr>
        <p:blipFill>
          <a:blip r:embed="rId1"/>
          <a:stretch>
            <a:fillRect/>
          </a:stretch>
        </p:blipFill>
        <p:spPr>
          <a:xfrm>
            <a:off x="819117" y="1859858"/>
            <a:ext cx="6845300" cy="3178630"/>
          </a:xfrm>
          <a:custGeom>
            <a:avLst/>
            <a:gdLst/>
            <a:ahLst/>
            <a:cxnLst/>
            <a:rect l="l" t="t" r="r" b="b"/>
            <a:pathLst>
              <a:path w="6845300" h="3178630">
                <a:moveTo>
                  <a:pt x="0" y="39915"/>
                </a:moveTo>
                <a:arcTo wR="95250" hR="95250" stAng="10800000" swAng="1486491"/>
                <a:lnTo>
                  <a:pt x="6836533" y="0"/>
                </a:lnTo>
                <a:arcTo wR="95250" hR="95250" stAng="20113509" swAng="1486491"/>
                <a:lnTo>
                  <a:pt x="6845300" y="3138715"/>
                </a:lnTo>
                <a:arcTo wR="95250" hR="95250" stAng="0" swAng="1486491"/>
                <a:lnTo>
                  <a:pt x="8767" y="3178630"/>
                </a:lnTo>
                <a:arcTo wR="95250" hR="95250" stAng="9313509" swAng="1486491"/>
                <a:close/>
              </a:path>
            </a:pathLst>
          </a:custGeom>
        </p:spPr>
      </p:pic>
      <p:sp>
        <p:nvSpPr>
          <p:cNvPr id="6" name="Shape 3"/>
          <p:cNvSpPr/>
          <p:nvPr/>
        </p:nvSpPr>
        <p:spPr>
          <a:xfrm>
            <a:off x="815942" y="1801347"/>
            <a:ext cx="6851650" cy="3295650"/>
          </a:xfrm>
          <a:prstGeom prst="roundRect">
            <a:avLst>
              <a:gd name="adj" fmla="val 2987"/>
            </a:avLst>
          </a:prstGeom>
          <a:noFill/>
          <a:ln w="6350">
            <a:solidFill>
              <a:srgbClr val="E4E1DA"/>
            </a:solidFill>
            <a:prstDash val="solid"/>
          </a:ln>
        </p:spPr>
      </p:sp>
      <p:sp>
        <p:nvSpPr>
          <p:cNvPr id="7" name="Shape 4"/>
          <p:cNvSpPr/>
          <p:nvPr/>
        </p:nvSpPr>
        <p:spPr>
          <a:xfrm>
            <a:off x="7873958" y="1798172"/>
            <a:ext cx="3505274" cy="3302000"/>
          </a:xfrm>
          <a:prstGeom prst="roundRect">
            <a:avLst>
              <a:gd name="adj" fmla="val 3077"/>
            </a:avLst>
          </a:prstGeom>
          <a:solidFill>
            <a:srgbClr val="FFFDF9"/>
          </a:solidFill>
          <a:ln/>
        </p:spPr>
      </p:sp>
      <p:pic>
        <p:nvPicPr>
          <p:cNvPr id="8" name="Image 1" descr="Curvas ROC casi superpuestas: lineal AUC 0.628 y RBF AUC 0.626">    </p:cNvPr>
          <p:cNvPicPr>
            <a:picLocks noChangeAspect="1"/>
          </p:cNvPicPr>
          <p:nvPr/>
        </p:nvPicPr>
        <p:blipFill>
          <a:blip r:embed="rId2"/>
          <a:stretch>
            <a:fillRect/>
          </a:stretch>
        </p:blipFill>
        <p:spPr>
          <a:xfrm>
            <a:off x="7880308" y="1876418"/>
            <a:ext cx="3492574" cy="3145509"/>
          </a:xfrm>
          <a:custGeom>
            <a:avLst/>
            <a:gdLst/>
            <a:ahLst/>
            <a:cxnLst/>
            <a:rect l="l" t="t" r="r" b="b"/>
            <a:pathLst>
              <a:path w="3492574" h="3145509">
                <a:moveTo>
                  <a:pt x="0" y="23354"/>
                </a:moveTo>
                <a:arcTo wR="95250" hR="95250" stAng="10800000" swAng="851589"/>
                <a:lnTo>
                  <a:pt x="3489667" y="0"/>
                </a:lnTo>
                <a:arcTo wR="95250" hR="95250" stAng="20748411" swAng="851589"/>
                <a:lnTo>
                  <a:pt x="3492574" y="3122154"/>
                </a:lnTo>
                <a:arcTo wR="95250" hR="95250" stAng="0" swAng="851589"/>
                <a:lnTo>
                  <a:pt x="2908" y="3145509"/>
                </a:lnTo>
                <a:arcTo wR="95250" hR="95250" stAng="9948411" swAng="851589"/>
                <a:close/>
              </a:path>
            </a:pathLst>
          </a:custGeom>
        </p:spPr>
      </p:pic>
      <p:sp>
        <p:nvSpPr>
          <p:cNvPr id="9" name="Shape 5"/>
          <p:cNvSpPr/>
          <p:nvPr/>
        </p:nvSpPr>
        <p:spPr>
          <a:xfrm>
            <a:off x="7877133" y="1801347"/>
            <a:ext cx="3498924" cy="3295650"/>
          </a:xfrm>
          <a:prstGeom prst="roundRect">
            <a:avLst>
              <a:gd name="adj" fmla="val 2987"/>
            </a:avLst>
          </a:prstGeom>
          <a:noFill/>
          <a:ln w="6350">
            <a:solidFill>
              <a:srgbClr val="E4E1DA"/>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86B"/>
                </a:solidFill>
                <a:latin typeface="Public Sans" pitchFamily="34" charset="0"/>
                <a:ea typeface="Public Sans" pitchFamily="34" charset="-122"/>
                <a:cs typeface="Public Sans" pitchFamily="34" charset="-120"/>
              </a:rPr>
              <a:t>RESULTADOS · CÓMO LEERLOS</a:t>
            </a:r>
            <a:endParaRPr lang="en-US" sz="1200" dirty="0"/>
          </a:p>
        </p:txBody>
      </p:sp>
      <p:sp>
        <p:nvSpPr>
          <p:cNvPr id="3" name="Text 1"/>
          <p:cNvSpPr/>
          <p:nvPr>
            <p:ph type="title"/>
          </p:nvPr>
        </p:nvSpPr>
        <p:spPr>
          <a:xfrm>
            <a:off x="812767" y="1076852"/>
            <a:ext cx="10883460" cy="584167"/>
          </a:xfrm>
          <a:prstGeom prst="rect">
            <a:avLst/>
          </a:prstGeom>
          <a:noFill/>
          <a:ln/>
        </p:spPr>
        <p:txBody>
          <a:bodyPr wrap="square" lIns="0" tIns="0" rIns="0" bIns="0" rtlCol="0" anchor="t">
            <a:normAutofit/>
          </a:bodyPr>
          <a:lstStyle/>
          <a:p>
            <a:pPr algn="l" indent="0" marL="0">
              <a:lnSpc>
                <a:spcPts val="4400"/>
              </a:lnSpc>
              <a:buNone/>
            </a:pPr>
            <a:r>
              <a:rPr lang="en-US" sz="4000" b="0" i="0" dirty="0">
                <a:solidFill>
                  <a:srgbClr val="F7F5F0"/>
                </a:solidFill>
                <a:latin typeface="Oswald" pitchFamily="34" charset="0"/>
                <a:ea typeface="Oswald" pitchFamily="34" charset="-122"/>
                <a:cs typeface="Oswald" pitchFamily="34" charset="-120"/>
              </a:rPr>
              <a:t>Mismo AUC, distinto umbral</a:t>
            </a:r>
            <a:endParaRPr lang="en-US" sz="4000" dirty="0"/>
          </a:p>
        </p:txBody>
      </p:sp>
      <p:sp>
        <p:nvSpPr>
          <p:cNvPr id="4" name="Shape 2"/>
          <p:cNvSpPr/>
          <p:nvPr/>
        </p:nvSpPr>
        <p:spPr>
          <a:xfrm>
            <a:off x="812767" y="1940384"/>
            <a:ext cx="5194350" cy="993138"/>
          </a:xfrm>
          <a:prstGeom prst="roundRect">
            <a:avLst>
              <a:gd name="adj" fmla="val 10230"/>
            </a:avLst>
          </a:prstGeom>
          <a:solidFill>
            <a:srgbClr val="1F2E52"/>
          </a:solidFill>
          <a:ln/>
        </p:spPr>
      </p:sp>
      <p:sp>
        <p:nvSpPr>
          <p:cNvPr id="5" name="Text 3"/>
          <p:cNvSpPr/>
          <p:nvPr/>
        </p:nvSpPr>
        <p:spPr>
          <a:xfrm>
            <a:off x="1066767" y="2143578"/>
            <a:ext cx="482694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5F0"/>
                </a:solidFill>
                <a:latin typeface="Public Sans" pitchFamily="34" charset="0"/>
                <a:ea typeface="Public Sans" pitchFamily="34" charset="-122"/>
                <a:cs typeface="Public Sans" pitchFamily="34" charset="-120"/>
              </a:rPr>
              <a:t>Ordenan igual de bien</a:t>
            </a:r>
            <a:endParaRPr lang="en-US" sz="1800" dirty="0"/>
          </a:p>
        </p:txBody>
      </p:sp>
      <p:sp>
        <p:nvSpPr>
          <p:cNvPr id="6" name="Text 4"/>
          <p:cNvSpPr/>
          <p:nvPr/>
        </p:nvSpPr>
        <p:spPr>
          <a:xfrm>
            <a:off x="1066767" y="2481418"/>
            <a:ext cx="4826940"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Public Sans" pitchFamily="34" charset="0"/>
                <a:ea typeface="Public Sans" pitchFamily="34" charset="-122"/>
                <a:cs typeface="Public Sans" pitchFamily="34" charset="-120"/>
              </a:rPr>
              <a:t>AUC 0.628 (lineal) vs 0.626 (RBF)</a:t>
            </a:r>
            <a:endParaRPr lang="en-US" sz="1400" dirty="0"/>
          </a:p>
        </p:txBody>
      </p:sp>
      <p:sp>
        <p:nvSpPr>
          <p:cNvPr id="7" name="Shape 5"/>
          <p:cNvSpPr/>
          <p:nvPr/>
        </p:nvSpPr>
        <p:spPr>
          <a:xfrm>
            <a:off x="6184883" y="1940384"/>
            <a:ext cx="5194350" cy="993138"/>
          </a:xfrm>
          <a:prstGeom prst="roundRect">
            <a:avLst>
              <a:gd name="adj" fmla="val 10230"/>
            </a:avLst>
          </a:prstGeom>
          <a:solidFill>
            <a:srgbClr val="1F2E52"/>
          </a:solidFill>
          <a:ln/>
        </p:spPr>
      </p:sp>
      <p:sp>
        <p:nvSpPr>
          <p:cNvPr id="8" name="Text 6"/>
          <p:cNvSpPr/>
          <p:nvPr/>
        </p:nvSpPr>
        <p:spPr>
          <a:xfrm>
            <a:off x="6438883" y="2143578"/>
            <a:ext cx="482694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86B"/>
                </a:solidFill>
                <a:latin typeface="Public Sans" pitchFamily="34" charset="0"/>
                <a:ea typeface="Public Sans" pitchFamily="34" charset="-122"/>
                <a:cs typeface="Public Sans" pitchFamily="34" charset="-120"/>
              </a:rPr>
              <a:t>RBF: conservador</a:t>
            </a:r>
            <a:endParaRPr lang="en-US" sz="1800" dirty="0"/>
          </a:p>
        </p:txBody>
      </p:sp>
      <p:sp>
        <p:nvSpPr>
          <p:cNvPr id="9" name="Text 7"/>
          <p:cNvSpPr/>
          <p:nvPr/>
        </p:nvSpPr>
        <p:spPr>
          <a:xfrm>
            <a:off x="6438883" y="2481418"/>
            <a:ext cx="4826940"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Public Sans" pitchFamily="34" charset="0"/>
                <a:ea typeface="Public Sans" pitchFamily="34" charset="-122"/>
                <a:cs typeface="Public Sans" pitchFamily="34" charset="-120"/>
              </a:rPr>
              <a:t>Precisión 0.65 · recall 0.36 → más accuracy</a:t>
            </a:r>
            <a:endParaRPr lang="en-US" sz="1400" dirty="0"/>
          </a:p>
        </p:txBody>
      </p:sp>
      <p:sp>
        <p:nvSpPr>
          <p:cNvPr id="10" name="Shape 8"/>
          <p:cNvSpPr/>
          <p:nvPr/>
        </p:nvSpPr>
        <p:spPr>
          <a:xfrm>
            <a:off x="812767" y="3111289"/>
            <a:ext cx="5194350" cy="993138"/>
          </a:xfrm>
          <a:prstGeom prst="roundRect">
            <a:avLst>
              <a:gd name="adj" fmla="val 10230"/>
            </a:avLst>
          </a:prstGeom>
          <a:solidFill>
            <a:srgbClr val="1F2E52"/>
          </a:solidFill>
          <a:ln/>
        </p:spPr>
      </p:sp>
      <p:sp>
        <p:nvSpPr>
          <p:cNvPr id="11" name="Text 9"/>
          <p:cNvSpPr/>
          <p:nvPr/>
        </p:nvSpPr>
        <p:spPr>
          <a:xfrm>
            <a:off x="1066767" y="3314483"/>
            <a:ext cx="482694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8FB5F0"/>
                </a:solidFill>
                <a:latin typeface="Public Sans" pitchFamily="34" charset="0"/>
                <a:ea typeface="Public Sans" pitchFamily="34" charset="-122"/>
                <a:cs typeface="Public Sans" pitchFamily="34" charset="-120"/>
              </a:rPr>
              <a:t>Lineal: equilibrado</a:t>
            </a:r>
            <a:endParaRPr lang="en-US" sz="1800" dirty="0"/>
          </a:p>
        </p:txBody>
      </p:sp>
      <p:sp>
        <p:nvSpPr>
          <p:cNvPr id="12" name="Text 10"/>
          <p:cNvSpPr/>
          <p:nvPr/>
        </p:nvSpPr>
        <p:spPr>
          <a:xfrm>
            <a:off x="1066767" y="3652323"/>
            <a:ext cx="4826940"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Public Sans" pitchFamily="34" charset="0"/>
                <a:ea typeface="Public Sans" pitchFamily="34" charset="-122"/>
                <a:cs typeface="Public Sans" pitchFamily="34" charset="-120"/>
              </a:rPr>
              <a:t>Precisión 0.56 · recall 0.51 → más F1</a:t>
            </a:r>
            <a:endParaRPr lang="en-US" sz="1400" dirty="0"/>
          </a:p>
        </p:txBody>
      </p:sp>
      <p:sp>
        <p:nvSpPr>
          <p:cNvPr id="13" name="Shape 11"/>
          <p:cNvSpPr/>
          <p:nvPr/>
        </p:nvSpPr>
        <p:spPr>
          <a:xfrm>
            <a:off x="6184883" y="3111289"/>
            <a:ext cx="5194350" cy="993138"/>
          </a:xfrm>
          <a:prstGeom prst="roundRect">
            <a:avLst>
              <a:gd name="adj" fmla="val 10230"/>
            </a:avLst>
          </a:prstGeom>
          <a:solidFill>
            <a:srgbClr val="1F2E52"/>
          </a:solidFill>
          <a:ln/>
        </p:spPr>
      </p:sp>
      <p:sp>
        <p:nvSpPr>
          <p:cNvPr id="14" name="Text 12"/>
          <p:cNvSpPr/>
          <p:nvPr/>
        </p:nvSpPr>
        <p:spPr>
          <a:xfrm>
            <a:off x="6438883" y="3314483"/>
            <a:ext cx="482694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5F0"/>
                </a:solidFill>
                <a:latin typeface="Public Sans" pitchFamily="34" charset="0"/>
                <a:ea typeface="Public Sans" pitchFamily="34" charset="-122"/>
                <a:cs typeface="Public Sans" pitchFamily="34" charset="-120"/>
              </a:rPr>
              <a:t>γ = 0.01: RBF casi lineal</a:t>
            </a:r>
            <a:endParaRPr lang="en-US" sz="1800" dirty="0"/>
          </a:p>
        </p:txBody>
      </p:sp>
      <p:sp>
        <p:nvSpPr>
          <p:cNvPr id="15" name="Text 13"/>
          <p:cNvSpPr/>
          <p:nvPr/>
        </p:nvSpPr>
        <p:spPr>
          <a:xfrm>
            <a:off x="6438883" y="3652323"/>
            <a:ext cx="4826940"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Public Sans" pitchFamily="34" charset="0"/>
                <a:ea typeface="Public Sans" pitchFamily="34" charset="-122"/>
                <a:cs typeface="Public Sans" pitchFamily="34" charset="-120"/>
              </a:rPr>
              <a:t>Con 6 variables domina una señal casi monótona</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RESULTADOS · TIEMPOS DE CÓMPUTO</a:t>
            </a:r>
            <a:endParaRPr lang="en-US" sz="1200" dirty="0"/>
          </a:p>
        </p:txBody>
      </p:sp>
      <p:sp>
        <p:nvSpPr>
          <p:cNvPr id="3" name="Text 1"/>
          <p:cNvSpPr/>
          <p:nvPr>
            <p:ph type="title"/>
          </p:nvPr>
        </p:nvSpPr>
        <p:spPr>
          <a:xfrm>
            <a:off x="812767" y="1076852"/>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Duplicar n cuesta 4 a 5 veces más tiempo</a:t>
            </a:r>
            <a:endParaRPr lang="en-US" sz="3200" dirty="0"/>
          </a:p>
        </p:txBody>
      </p:sp>
      <p:sp>
        <p:nvSpPr>
          <p:cNvPr id="4" name="Shape 2"/>
          <p:cNvSpPr/>
          <p:nvPr/>
        </p:nvSpPr>
        <p:spPr>
          <a:xfrm>
            <a:off x="812767" y="1798166"/>
            <a:ext cx="5715000" cy="3937000"/>
          </a:xfrm>
          <a:prstGeom prst="roundRect">
            <a:avLst>
              <a:gd name="adj" fmla="val 2581"/>
            </a:avLst>
          </a:prstGeom>
          <a:solidFill>
            <a:srgbClr val="FFFDF9"/>
          </a:solidFill>
          <a:ln/>
        </p:spPr>
      </p:sp>
      <p:pic>
        <p:nvPicPr>
          <p:cNvPr id="5" name="Image 0" descr="Tiempo de entrenamiento contra número de tiros: a 15 000 tiros, lineal 39 s y RBF 19 s">    </p:cNvPr>
          <p:cNvPicPr>
            <a:picLocks noChangeAspect="1"/>
          </p:cNvPicPr>
          <p:nvPr/>
        </p:nvPicPr>
        <p:blipFill>
          <a:blip r:embed="rId1"/>
          <a:srcRect l="-478" r="-478" t="0" b="0"/>
          <a:stretch/>
        </p:blipFill>
        <p:spPr>
          <a:xfrm>
            <a:off x="819117" y="1804516"/>
            <a:ext cx="5702300" cy="3924300"/>
          </a:xfrm>
          <a:prstGeom prst="roundRect">
            <a:avLst>
              <a:gd name="adj" fmla="val 2427"/>
            </a:avLst>
          </a:prstGeom>
        </p:spPr>
      </p:pic>
      <p:sp>
        <p:nvSpPr>
          <p:cNvPr id="6" name="Shape 3"/>
          <p:cNvSpPr/>
          <p:nvPr/>
        </p:nvSpPr>
        <p:spPr>
          <a:xfrm>
            <a:off x="815942" y="1801341"/>
            <a:ext cx="5708650" cy="3930650"/>
          </a:xfrm>
          <a:prstGeom prst="roundRect">
            <a:avLst>
              <a:gd name="adj" fmla="val 2504"/>
            </a:avLst>
          </a:prstGeom>
          <a:noFill/>
          <a:ln w="6350">
            <a:solidFill>
              <a:srgbClr val="E4E1DA"/>
            </a:solidFill>
            <a:prstDash val="solid"/>
          </a:ln>
        </p:spPr>
      </p:sp>
      <p:sp>
        <p:nvSpPr>
          <p:cNvPr id="7" name="Text 4"/>
          <p:cNvSpPr/>
          <p:nvPr/>
        </p:nvSpPr>
        <p:spPr>
          <a:xfrm>
            <a:off x="6883342" y="2326556"/>
            <a:ext cx="4630767" cy="558783"/>
          </a:xfrm>
          <a:prstGeom prst="rect">
            <a:avLst/>
          </a:prstGeom>
          <a:noFill/>
          <a:ln/>
        </p:spPr>
        <p:txBody>
          <a:bodyPr wrap="square" lIns="0" tIns="0" rIns="0" bIns="0" rtlCol="0" anchor="t">
            <a:normAutofit/>
          </a:bodyPr>
          <a:lstStyle/>
          <a:p>
            <a:pPr algn="l" indent="0" marL="0">
              <a:lnSpc>
                <a:spcPts val="4200"/>
              </a:lnSpc>
              <a:buNone/>
            </a:pPr>
            <a:r>
              <a:rPr lang="en-US" sz="4000" dirty="0">
                <a:solidFill>
                  <a:srgbClr val="2F6FD0"/>
                </a:solidFill>
                <a:latin typeface="Oswald" pitchFamily="34" charset="0"/>
                <a:ea typeface="Oswald" pitchFamily="34" charset="-122"/>
                <a:cs typeface="Oswald" pitchFamily="34" charset="-120"/>
              </a:rPr>
              <a:t>39 s</a:t>
            </a:r>
            <a:endParaRPr lang="en-US" sz="4000" dirty="0"/>
          </a:p>
        </p:txBody>
      </p:sp>
      <p:sp>
        <p:nvSpPr>
          <p:cNvPr id="8" name="Text 5"/>
          <p:cNvSpPr/>
          <p:nvPr/>
        </p:nvSpPr>
        <p:spPr>
          <a:xfrm>
            <a:off x="6883342" y="2885318"/>
            <a:ext cx="4630767"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SVM lineal · 15 000 tiros</a:t>
            </a:r>
            <a:endParaRPr lang="en-US" sz="1400" dirty="0"/>
          </a:p>
        </p:txBody>
      </p:sp>
      <p:sp>
        <p:nvSpPr>
          <p:cNvPr id="9" name="Text 6"/>
          <p:cNvSpPr/>
          <p:nvPr/>
        </p:nvSpPr>
        <p:spPr>
          <a:xfrm>
            <a:off x="6883342" y="3362809"/>
            <a:ext cx="4630767" cy="558783"/>
          </a:xfrm>
          <a:prstGeom prst="rect">
            <a:avLst/>
          </a:prstGeom>
          <a:noFill/>
          <a:ln/>
        </p:spPr>
        <p:txBody>
          <a:bodyPr wrap="square" lIns="0" tIns="0" rIns="0" bIns="0" rtlCol="0" anchor="t">
            <a:normAutofit/>
          </a:bodyPr>
          <a:lstStyle/>
          <a:p>
            <a:pPr algn="l" indent="0" marL="0">
              <a:lnSpc>
                <a:spcPts val="4200"/>
              </a:lnSpc>
              <a:buNone/>
            </a:pPr>
            <a:r>
              <a:rPr lang="en-US" sz="4000" dirty="0">
                <a:solidFill>
                  <a:srgbClr val="B8461B"/>
                </a:solidFill>
                <a:latin typeface="Oswald" pitchFamily="34" charset="0"/>
                <a:ea typeface="Oswald" pitchFamily="34" charset="-122"/>
                <a:cs typeface="Oswald" pitchFamily="34" charset="-120"/>
              </a:rPr>
              <a:t>18 s</a:t>
            </a:r>
            <a:endParaRPr lang="en-US" sz="4000" dirty="0"/>
          </a:p>
        </p:txBody>
      </p:sp>
      <p:sp>
        <p:nvSpPr>
          <p:cNvPr id="10" name="Text 7"/>
          <p:cNvSpPr/>
          <p:nvPr/>
        </p:nvSpPr>
        <p:spPr>
          <a:xfrm>
            <a:off x="6883342" y="3921571"/>
            <a:ext cx="4630767"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SVM RBF · 15 000 tiros</a:t>
            </a:r>
            <a:endParaRPr lang="en-US" sz="1400" dirty="0"/>
          </a:p>
        </p:txBody>
      </p:sp>
      <p:sp>
        <p:nvSpPr>
          <p:cNvPr id="11" name="Text 8"/>
          <p:cNvSpPr/>
          <p:nvPr/>
        </p:nvSpPr>
        <p:spPr>
          <a:xfrm>
            <a:off x="6883342" y="4399062"/>
            <a:ext cx="4630767" cy="558783"/>
          </a:xfrm>
          <a:prstGeom prst="rect">
            <a:avLst/>
          </a:prstGeom>
          <a:noFill/>
          <a:ln/>
        </p:spPr>
        <p:txBody>
          <a:bodyPr wrap="square" lIns="0" tIns="0" rIns="0" bIns="0" rtlCol="0" anchor="t">
            <a:normAutofit/>
          </a:bodyPr>
          <a:lstStyle/>
          <a:p>
            <a:pPr algn="l" indent="0" marL="0">
              <a:lnSpc>
                <a:spcPts val="4200"/>
              </a:lnSpc>
              <a:buNone/>
            </a:pPr>
            <a:r>
              <a:rPr lang="en-US" sz="4000" dirty="0">
                <a:solidFill>
                  <a:srgbClr val="14213D"/>
                </a:solidFill>
                <a:latin typeface="Oswald" pitchFamily="34" charset="0"/>
                <a:ea typeface="Oswald" pitchFamily="34" charset="-122"/>
                <a:cs typeface="Oswald" pitchFamily="34" charset="-120"/>
              </a:rPr>
              <a:t>≈ 85 %</a:t>
            </a:r>
            <a:endParaRPr lang="en-US" sz="4000" dirty="0"/>
          </a:p>
        </p:txBody>
      </p:sp>
      <p:sp>
        <p:nvSpPr>
          <p:cNvPr id="12" name="Text 9"/>
          <p:cNvSpPr/>
          <p:nvPr/>
        </p:nvSpPr>
        <p:spPr>
          <a:xfrm>
            <a:off x="6883342" y="4957837"/>
            <a:ext cx="4630767"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de los puntos son vectores de soporte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RESULTADOS · EVALUACIÓN CUALITATIVA EN 2D</a:t>
            </a:r>
            <a:endParaRPr lang="en-US" sz="1200" dirty="0"/>
          </a:p>
        </p:txBody>
      </p:sp>
      <p:sp>
        <p:nvSpPr>
          <p:cNvPr id="3" name="Text 1"/>
          <p:cNvSpPr/>
          <p:nvPr>
            <p:ph type="title"/>
          </p:nvPr>
        </p:nvSpPr>
        <p:spPr>
          <a:xfrm>
            <a:off x="812767" y="1076846"/>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Con 2 variables, el RBF sí curva la frontera</a:t>
            </a:r>
            <a:endParaRPr lang="en-US" sz="3200" dirty="0"/>
          </a:p>
        </p:txBody>
      </p:sp>
      <p:sp>
        <p:nvSpPr>
          <p:cNvPr id="4" name="Shape 2"/>
          <p:cNvSpPr/>
          <p:nvPr/>
        </p:nvSpPr>
        <p:spPr>
          <a:xfrm>
            <a:off x="812767" y="1772741"/>
            <a:ext cx="10566383" cy="4127500"/>
          </a:xfrm>
          <a:prstGeom prst="roundRect">
            <a:avLst>
              <a:gd name="adj" fmla="val 2462"/>
            </a:avLst>
          </a:prstGeom>
          <a:solidFill>
            <a:srgbClr val="FFFDF9"/>
          </a:solidFill>
          <a:ln/>
        </p:spPr>
      </p:sp>
      <p:pic>
        <p:nvPicPr>
          <p:cNvPr id="5" name="Image 0" descr="Tres fronteras sobre distancia al aro y del defensor: lineal train 58 test 56 por ciento; RBF C=1 gamma=0.5 train 60 test 61; RBF C=1000 gamma=100 train 91 test 55">    </p:cNvPr>
          <p:cNvPicPr>
            <a:picLocks noChangeAspect="1"/>
          </p:cNvPicPr>
          <p:nvPr/>
        </p:nvPicPr>
        <p:blipFill>
          <a:blip r:embed="rId1"/>
          <a:stretch>
            <a:fillRect/>
          </a:stretch>
        </p:blipFill>
        <p:spPr>
          <a:xfrm>
            <a:off x="1305909" y="1779091"/>
            <a:ext cx="9580098" cy="4114800"/>
          </a:xfrm>
          <a:prstGeom prst="rect">
            <a:avLst/>
          </a:prstGeom>
        </p:spPr>
      </p:pic>
      <p:sp>
        <p:nvSpPr>
          <p:cNvPr id="6" name="Shape 3"/>
          <p:cNvSpPr/>
          <p:nvPr/>
        </p:nvSpPr>
        <p:spPr>
          <a:xfrm>
            <a:off x="815942" y="1775916"/>
            <a:ext cx="10560033" cy="4121150"/>
          </a:xfrm>
          <a:prstGeom prst="roundRect">
            <a:avLst>
              <a:gd name="adj" fmla="val 2388"/>
            </a:avLst>
          </a:prstGeom>
          <a:noFill/>
          <a:ln w="6350">
            <a:solidFill>
              <a:srgbClr val="E4E1DA"/>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DESPLIEGUE · INTERFAZ DESARROLLADA</a:t>
            </a:r>
            <a:endParaRPr lang="en-US" sz="1200" dirty="0"/>
          </a:p>
        </p:txBody>
      </p:sp>
      <p:sp>
        <p:nvSpPr>
          <p:cNvPr id="3" name="Text 1"/>
          <p:cNvSpPr/>
          <p:nvPr>
            <p:ph type="title"/>
          </p:nvPr>
        </p:nvSpPr>
        <p:spPr>
          <a:xfrm>
            <a:off x="812767" y="1076846"/>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Aplicación web interactiva (Streamlit + Plotly)</a:t>
            </a:r>
            <a:endParaRPr lang="en-US" sz="3200" dirty="0"/>
          </a:p>
        </p:txBody>
      </p:sp>
      <p:sp>
        <p:nvSpPr>
          <p:cNvPr id="4" name="Shape 2"/>
          <p:cNvSpPr/>
          <p:nvPr/>
        </p:nvSpPr>
        <p:spPr>
          <a:xfrm>
            <a:off x="812767" y="1798166"/>
            <a:ext cx="5181616" cy="3238500"/>
          </a:xfrm>
          <a:prstGeom prst="roundRect">
            <a:avLst>
              <a:gd name="adj" fmla="val 3137"/>
            </a:avLst>
          </a:prstGeom>
          <a:solidFill>
            <a:srgbClr val="E4E1DA"/>
          </a:solidFill>
          <a:ln/>
        </p:spPr>
      </p:sp>
      <p:pic>
        <p:nvPicPr>
          <p:cNvPr id="5" name="Image 0" descr="Captura de la pestaña Laboratorio 2D con controles de C y gamma y la frontera de decisión">    </p:cNvPr>
          <p:cNvPicPr>
            <a:picLocks noChangeAspect="1"/>
          </p:cNvPicPr>
          <p:nvPr/>
        </p:nvPicPr>
        <p:blipFill>
          <a:blip r:embed="rId1"/>
          <a:srcRect l="0" r="0" t="0" b="0"/>
          <a:stretch/>
        </p:blipFill>
        <p:spPr>
          <a:xfrm>
            <a:off x="812767" y="1798166"/>
            <a:ext cx="5181616" cy="3238500"/>
          </a:xfrm>
          <a:prstGeom prst="roundRect">
            <a:avLst>
              <a:gd name="adj" fmla="val 3137"/>
            </a:avLst>
          </a:prstGeom>
        </p:spPr>
      </p:pic>
      <p:sp>
        <p:nvSpPr>
          <p:cNvPr id="6" name="Shape 3"/>
          <p:cNvSpPr/>
          <p:nvPr/>
        </p:nvSpPr>
        <p:spPr>
          <a:xfrm>
            <a:off x="6197575" y="1798166"/>
            <a:ext cx="5181658" cy="3238500"/>
          </a:xfrm>
          <a:prstGeom prst="roundRect">
            <a:avLst>
              <a:gd name="adj" fmla="val 3137"/>
            </a:avLst>
          </a:prstGeom>
          <a:solidFill>
            <a:srgbClr val="E4E1DA"/>
          </a:solidFill>
          <a:ln/>
        </p:spPr>
      </p:sp>
      <p:pic>
        <p:nvPicPr>
          <p:cNvPr id="7" name="Image 1" descr="Captura de la pestaña Simulador de tiro con predicciones de ambos modelos y la curva de f(x)">    </p:cNvPr>
          <p:cNvPicPr>
            <a:picLocks noChangeAspect="1"/>
          </p:cNvPicPr>
          <p:nvPr/>
        </p:nvPicPr>
        <p:blipFill>
          <a:blip r:embed="rId2"/>
          <a:srcRect l="-1" r="-1" t="0" b="0"/>
          <a:stretch/>
        </p:blipFill>
        <p:spPr>
          <a:xfrm>
            <a:off x="6197575" y="1798166"/>
            <a:ext cx="5181658" cy="3238500"/>
          </a:xfrm>
          <a:prstGeom prst="roundRect">
            <a:avLst>
              <a:gd name="adj" fmla="val 3137"/>
            </a:avLst>
          </a:prstGeom>
        </p:spPr>
      </p:pic>
      <p:sp>
        <p:nvSpPr>
          <p:cNvPr id="8" name="Text 4"/>
          <p:cNvSpPr/>
          <p:nvPr/>
        </p:nvSpPr>
        <p:spPr>
          <a:xfrm>
            <a:off x="815942" y="5293841"/>
            <a:ext cx="3414216" cy="720510"/>
          </a:xfrm>
          <a:prstGeom prst="roundRect">
            <a:avLst>
              <a:gd name="adj" fmla="val 13660"/>
            </a:avLst>
          </a:prstGeom>
          <a:solidFill>
            <a:srgbClr val="FFFDF9"/>
          </a:solidFill>
          <a:ln w="6350">
            <a:solidFill>
              <a:srgbClr val="E4E1DA"/>
            </a:solidFill>
            <a:prstDash val="solid"/>
          </a:ln>
        </p:spPr>
        <p:txBody>
          <a:bodyPr wrap="square" lIns="151089" tIns="100289" rIns="59457" bIns="74889" rtlCol="0" anchor="t">
            <a:normAutofit/>
          </a:bodyPr>
          <a:lstStyle/>
          <a:p>
            <a:pPr algn="l"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6 pestañas · laboratorio 2D y simulador en vivo</a:t>
            </a:r>
            <a:endParaRPr lang="en-US" sz="1300" dirty="0"/>
          </a:p>
        </p:txBody>
      </p:sp>
      <p:sp>
        <p:nvSpPr>
          <p:cNvPr id="9" name="Text 5"/>
          <p:cNvSpPr/>
          <p:nvPr/>
        </p:nvSpPr>
        <p:spPr>
          <a:xfrm>
            <a:off x="4388892" y="5293841"/>
            <a:ext cx="3414216" cy="720510"/>
          </a:xfrm>
          <a:prstGeom prst="roundRect">
            <a:avLst>
              <a:gd name="adj" fmla="val 13660"/>
            </a:avLst>
          </a:prstGeom>
          <a:solidFill>
            <a:srgbClr val="FFFDF9"/>
          </a:solidFill>
          <a:ln w="6350">
            <a:solidFill>
              <a:srgbClr val="E4E1DA"/>
            </a:solidFill>
            <a:prstDash val="solid"/>
          </a:ln>
        </p:spPr>
        <p:txBody>
          <a:bodyPr wrap="square" lIns="151089" tIns="100289" rIns="59457" bIns="74889" rtlCol="0" anchor="t">
            <a:normAutofit/>
          </a:bodyPr>
          <a:lstStyle/>
          <a:p>
            <a:pPr algn="l"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PC y celular en la red local</a:t>
            </a:r>
            <a:endParaRPr lang="en-US" sz="1300" dirty="0"/>
          </a:p>
        </p:txBody>
      </p:sp>
      <p:sp>
        <p:nvSpPr>
          <p:cNvPr id="10" name="Text 6"/>
          <p:cNvSpPr/>
          <p:nvPr/>
        </p:nvSpPr>
        <p:spPr>
          <a:xfrm>
            <a:off x="7961841" y="5293841"/>
            <a:ext cx="3414216" cy="720510"/>
          </a:xfrm>
          <a:prstGeom prst="roundRect">
            <a:avLst>
              <a:gd name="adj" fmla="val 13660"/>
            </a:avLst>
          </a:prstGeom>
          <a:solidFill>
            <a:srgbClr val="FFFDF9"/>
          </a:solidFill>
          <a:ln w="6350">
            <a:solidFill>
              <a:srgbClr val="E4E1DA"/>
            </a:solidFill>
            <a:prstDash val="solid"/>
          </a:ln>
        </p:spPr>
        <p:txBody>
          <a:bodyPr wrap="square" lIns="151089" tIns="100289" rIns="59457" bIns="74889" rtlCol="0" anchor="t">
            <a:normAutofit/>
          </a:bodyPr>
          <a:lstStyle/>
          <a:p>
            <a:pPr algn="l"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github.com/sofiaalban/NBAshotsMP3</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61B"/>
                </a:solidFill>
                <a:latin typeface="Public Sans" pitchFamily="34" charset="0"/>
                <a:ea typeface="Public Sans" pitchFamily="34" charset="-122"/>
                <a:cs typeface="Public Sans" pitchFamily="34" charset="-120"/>
              </a:rPr>
              <a:t>DECLARACIÓN DE USO DE IA</a:t>
            </a:r>
            <a:endParaRPr lang="en-US" sz="1200" dirty="0"/>
          </a:p>
        </p:txBody>
      </p:sp>
      <p:sp>
        <p:nvSpPr>
          <p:cNvPr id="3" name="Text 1"/>
          <p:cNvSpPr/>
          <p:nvPr>
            <p:ph type="title"/>
          </p:nvPr>
        </p:nvSpPr>
        <p:spPr>
          <a:xfrm>
            <a:off x="812767" y="1076846"/>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14213D"/>
                </a:solidFill>
                <a:latin typeface="Oswald" pitchFamily="34" charset="0"/>
                <a:ea typeface="Oswald" pitchFamily="34" charset="-122"/>
                <a:cs typeface="Oswald" pitchFamily="34" charset="-120"/>
              </a:rPr>
              <a:t>Usamos IA generativa: Claude (Anthropic)</a:t>
            </a:r>
            <a:endParaRPr lang="en-US" sz="3200" dirty="0"/>
          </a:p>
        </p:txBody>
      </p:sp>
      <p:sp>
        <p:nvSpPr>
          <p:cNvPr id="4" name="Text 2"/>
          <p:cNvSpPr/>
          <p:nvPr/>
        </p:nvSpPr>
        <p:spPr>
          <a:xfrm>
            <a:off x="815942" y="1852116"/>
            <a:ext cx="10560116" cy="719228"/>
          </a:xfrm>
          <a:prstGeom prst="roundRect">
            <a:avLst>
              <a:gd name="adj" fmla="val 13685"/>
            </a:avLst>
          </a:prstGeom>
          <a:solidFill>
            <a:srgbClr val="FFFDF9"/>
          </a:solidFill>
          <a:ln w="6350">
            <a:solidFill>
              <a:srgbClr val="E4E1DA"/>
            </a:solidFill>
            <a:prstDash val="solid"/>
          </a:ln>
        </p:spPr>
        <p:txBody>
          <a:bodyPr wrap="square" lIns="227289" tIns="176489" rIns="0" bIns="151072" rtlCol="0" anchor="t">
            <a:normAutofit/>
          </a:bodyPr>
          <a:lstStyle/>
          <a:p>
            <a:pPr algn="l" indent="0" marL="0">
              <a:lnSpc>
                <a:spcPts val="2430"/>
              </a:lnSpc>
              <a:buNone/>
            </a:pPr>
            <a:r>
              <a:rPr lang="en-US" sz="1800" dirty="0">
                <a:solidFill>
                  <a:srgbClr val="14213D"/>
                </a:solidFill>
                <a:latin typeface="Public Sans" pitchFamily="34" charset="0"/>
                <a:ea typeface="Public Sans" pitchFamily="34" charset="-122"/>
                <a:cs typeface="Public Sans" pitchFamily="34" charset="-120"/>
              </a:rPr>
              <a:t>Guía en el acercamiento al </a:t>
            </a:r>
            <a:r>
              <a:rPr lang="en-US" sz="1800" b="1" dirty="0">
                <a:solidFill>
                  <a:srgbClr val="14213D"/>
                </a:solidFill>
                <a:latin typeface="Public Sans" pitchFamily="34" charset="0"/>
                <a:ea typeface="Public Sans" pitchFamily="34" charset="-122"/>
                <a:cs typeface="Public Sans" pitchFamily="34" charset="-120"/>
              </a:rPr>
              <a:t>razonamiento matemático</a:t>
            </a:r>
            <a:endParaRPr lang="en-US" sz="1800" dirty="0"/>
          </a:p>
        </p:txBody>
      </p:sp>
      <p:sp>
        <p:nvSpPr>
          <p:cNvPr id="5" name="Text 3"/>
          <p:cNvSpPr/>
          <p:nvPr/>
        </p:nvSpPr>
        <p:spPr>
          <a:xfrm>
            <a:off x="815942" y="2730078"/>
            <a:ext cx="10560116" cy="719228"/>
          </a:xfrm>
          <a:prstGeom prst="roundRect">
            <a:avLst>
              <a:gd name="adj" fmla="val 13685"/>
            </a:avLst>
          </a:prstGeom>
          <a:solidFill>
            <a:srgbClr val="FFFDF9"/>
          </a:solidFill>
          <a:ln w="6350">
            <a:solidFill>
              <a:srgbClr val="E4E1DA"/>
            </a:solidFill>
            <a:prstDash val="solid"/>
          </a:ln>
        </p:spPr>
        <p:txBody>
          <a:bodyPr wrap="square" lIns="227289" tIns="176489" rIns="0" bIns="151072" rtlCol="0" anchor="t">
            <a:normAutofit/>
          </a:bodyPr>
          <a:lstStyle/>
          <a:p>
            <a:pPr algn="l" indent="0" marL="0">
              <a:lnSpc>
                <a:spcPts val="2430"/>
              </a:lnSpc>
              <a:buNone/>
            </a:pPr>
            <a:r>
              <a:rPr lang="en-US" sz="1800" dirty="0">
                <a:solidFill>
                  <a:srgbClr val="14213D"/>
                </a:solidFill>
                <a:latin typeface="Public Sans" pitchFamily="34" charset="0"/>
                <a:ea typeface="Public Sans" pitchFamily="34" charset="-122"/>
                <a:cs typeface="Public Sans" pitchFamily="34" charset="-120"/>
              </a:rPr>
              <a:t>Implementación del </a:t>
            </a:r>
            <a:r>
              <a:rPr lang="en-US" sz="1800" b="1" dirty="0">
                <a:solidFill>
                  <a:srgbClr val="14213D"/>
                </a:solidFill>
                <a:latin typeface="Public Sans" pitchFamily="34" charset="0"/>
                <a:ea typeface="Public Sans" pitchFamily="34" charset="-122"/>
                <a:cs typeface="Public Sans" pitchFamily="34" charset="-120"/>
              </a:rPr>
              <a:t>prototipo y la interfaz</a:t>
            </a:r>
            <a:endParaRPr lang="en-US" sz="1800" dirty="0"/>
          </a:p>
        </p:txBody>
      </p:sp>
      <p:sp>
        <p:nvSpPr>
          <p:cNvPr id="6" name="Text 4"/>
          <p:cNvSpPr/>
          <p:nvPr/>
        </p:nvSpPr>
        <p:spPr>
          <a:xfrm>
            <a:off x="815942" y="3608040"/>
            <a:ext cx="10560116" cy="719228"/>
          </a:xfrm>
          <a:prstGeom prst="roundRect">
            <a:avLst>
              <a:gd name="adj" fmla="val 13685"/>
            </a:avLst>
          </a:prstGeom>
          <a:solidFill>
            <a:srgbClr val="FFFDF9"/>
          </a:solidFill>
          <a:ln w="6350">
            <a:solidFill>
              <a:srgbClr val="E4E1DA"/>
            </a:solidFill>
            <a:prstDash val="solid"/>
          </a:ln>
        </p:spPr>
        <p:txBody>
          <a:bodyPr wrap="square" lIns="227289" tIns="176489" rIns="0" bIns="151072" rtlCol="0" anchor="t">
            <a:normAutofit/>
          </a:bodyPr>
          <a:lstStyle/>
          <a:p>
            <a:pPr algn="l" indent="0" marL="0">
              <a:lnSpc>
                <a:spcPts val="2430"/>
              </a:lnSpc>
              <a:buNone/>
            </a:pPr>
            <a:r>
              <a:rPr lang="en-US" sz="1800" dirty="0">
                <a:solidFill>
                  <a:srgbClr val="14213D"/>
                </a:solidFill>
                <a:latin typeface="Public Sans" pitchFamily="34" charset="0"/>
                <a:ea typeface="Public Sans" pitchFamily="34" charset="-122"/>
                <a:cs typeface="Public Sans" pitchFamily="34" charset="-120"/>
              </a:rPr>
              <a:t>Detalles de la </a:t>
            </a:r>
            <a:r>
              <a:rPr lang="en-US" sz="1800" b="1" dirty="0">
                <a:solidFill>
                  <a:srgbClr val="14213D"/>
                </a:solidFill>
                <a:latin typeface="Public Sans" pitchFamily="34" charset="0"/>
                <a:ea typeface="Public Sans" pitchFamily="34" charset="-122"/>
                <a:cs typeface="Public Sans" pitchFamily="34" charset="-120"/>
              </a:rPr>
              <a:t>presentación</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p:bgPr>
    </p:bg>
    <p:spTree>
      <p:nvGrpSpPr>
        <p:cNvPr id="1" name=""/>
        <p:cNvGrpSpPr/>
        <p:nvPr/>
      </p:nvGrpSpPr>
      <p:grpSpPr>
        <a:xfrm>
          <a:off x="0" y="0"/>
          <a:ext cx="0" cy="0"/>
          <a:chOff x="0" y="0"/>
          <a:chExt cx="0" cy="0"/>
        </a:xfrm>
      </p:grpSpPr>
      <p:pic>
        <p:nvPicPr>
          <p:cNvPr id="2" name="Image 0" descr="Balón de baloncesto">    </p:cNvPr>
          <p:cNvPicPr>
            <a:picLocks noChangeAspect="1"/>
          </p:cNvPicPr>
          <p:nvPr/>
        </p:nvPicPr>
        <p:blipFill>
          <a:blip r:embed="rId1"/>
          <a:srcRect l="0" r="0" t="0" b="0"/>
          <a:stretch/>
        </p:blipFill>
        <p:spPr>
          <a:xfrm>
            <a:off x="8636000" y="1905000"/>
            <a:ext cx="2667000" cy="2667000"/>
          </a:xfrm>
          <a:prstGeom prst="rect">
            <a:avLst/>
          </a:prstGeom>
        </p:spPr>
      </p:pic>
      <p:sp>
        <p:nvSpPr>
          <p:cNvPr id="3" name="Text 0"/>
          <p:cNvSpPr/>
          <p:nvPr/>
        </p:nvSpPr>
        <p:spPr>
          <a:xfrm>
            <a:off x="812767" y="25082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86B"/>
                </a:solidFill>
                <a:latin typeface="Public Sans" pitchFamily="34" charset="0"/>
                <a:ea typeface="Public Sans" pitchFamily="34" charset="-122"/>
                <a:cs typeface="Public Sans" pitchFamily="34" charset="-120"/>
              </a:rPr>
              <a:t>GRACIAS</a:t>
            </a:r>
            <a:endParaRPr lang="en-US" sz="1200" dirty="0"/>
          </a:p>
        </p:txBody>
      </p:sp>
      <p:sp>
        <p:nvSpPr>
          <p:cNvPr id="4" name="Text 1"/>
          <p:cNvSpPr/>
          <p:nvPr>
            <p:ph type="title"/>
          </p:nvPr>
        </p:nvSpPr>
        <p:spPr>
          <a:xfrm>
            <a:off x="812767" y="2975570"/>
            <a:ext cx="7823233" cy="825475"/>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F0"/>
                </a:solidFill>
                <a:latin typeface="Oswald" pitchFamily="34" charset="0"/>
                <a:ea typeface="Oswald" pitchFamily="34" charset="-122"/>
                <a:cs typeface="Oswald" pitchFamily="34" charset="-120"/>
              </a:rPr>
              <a:t>Ahora, la demo en vivo</a:t>
            </a:r>
            <a:endParaRPr lang="en-US" sz="6000" dirty="0"/>
          </a:p>
        </p:txBody>
      </p:sp>
      <p:sp>
        <p:nvSpPr>
          <p:cNvPr id="5" name="Text 2"/>
          <p:cNvSpPr/>
          <p:nvPr/>
        </p:nvSpPr>
        <p:spPr>
          <a:xfrm>
            <a:off x="812767" y="4029646"/>
            <a:ext cx="7194550" cy="345463"/>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E3"/>
                </a:solidFill>
                <a:latin typeface="Public Sans" pitchFamily="34" charset="0"/>
                <a:ea typeface="Public Sans" pitchFamily="34" charset="-122"/>
                <a:cs typeface="Public Sans" pitchFamily="34" charset="-120"/>
              </a:rPr>
              <a:t>Código, datos y README: github.com/sofiaalban/NBAshotsMP3</a:t>
            </a:r>
            <a:endParaRPr lang="en-US" sz="1800" dirty="0"/>
          </a:p>
        </p:txBody>
      </p:sp>
    </p:spTree>
  </p:cSld>
  <p:clrMapOvr>
    <a:masterClrMapping/>
  </p:clrMapOvr>
</p:sld>
</file>

<file path=ppt/theme/theme1.xml><?xml version="1.0" encoding="utf-8"?>
<a:theme xmlns:a="http://schemas.openxmlformats.org/drawingml/2006/main" name="MP3 · SVM lineal vs RBF · Tiros NBA">
  <a:themeElements>
    <a:clrScheme name="MP3 · SVM lineal vs RBF · Tiros NBA">
      <a:dk1>
        <a:srgbClr val="14213D"/>
      </a:dk1>
      <a:lt1>
        <a:srgbClr val="F7F5F0"/>
      </a:lt1>
      <a:dk2>
        <a:srgbClr val="4D566A"/>
      </a:dk2>
      <a:lt2>
        <a:srgbClr val="E0E0DE"/>
      </a:lt2>
      <a:accent1>
        <a:srgbClr val="B8461B"/>
      </a:accent1>
      <a:accent2>
        <a:srgbClr val="2F6FD0"/>
      </a:accent2>
      <a:accent3>
        <a:srgbClr val="F2A86B"/>
      </a:accent3>
      <a:accent4>
        <a:srgbClr val="1F9E89"/>
      </a:accent4>
      <a:accent5>
        <a:srgbClr val="8E5BC8"/>
      </a:accent5>
      <a:accent6>
        <a:srgbClr val="8FB5F0"/>
      </a:accent6>
      <a:hlink>
        <a:srgbClr val="0563C1"/>
      </a:hlink>
      <a:folHlink>
        <a:srgbClr val="954F72"/>
      </a:folHlink>
    </a:clrScheme>
    <a:fontScheme name="MP3 · SVM lineal vs RBF · Tiros NBA">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MP3 · SVM lineal vs RBF · Tiros NBA</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Oswald
Copyright 2016 The Oswald Project Authors (https://github.com/googlefonts/OswaldFont)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2026-10-22T06:43:31Z</dcterms:created>
  <dcterms:modified xsi:type="dcterms:W3CDTF">2026-10-22T06:43:31Z</dcterms:modified>
</cp:coreProperties>
</file>